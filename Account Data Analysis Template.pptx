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7.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8.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9.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0.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88" r:id="rId1"/>
  </p:sldMasterIdLst>
  <p:notesMasterIdLst>
    <p:notesMasterId r:id="rId14"/>
  </p:notesMasterIdLst>
  <p:handoutMasterIdLst>
    <p:handoutMasterId r:id="rId15"/>
  </p:handoutMasterIdLst>
  <p:sldIdLst>
    <p:sldId id="258" r:id="rId2"/>
    <p:sldId id="264" r:id="rId3"/>
    <p:sldId id="266" r:id="rId4"/>
    <p:sldId id="271" r:id="rId5"/>
    <p:sldId id="265" r:id="rId6"/>
    <p:sldId id="257" r:id="rId7"/>
    <p:sldId id="267" r:id="rId8"/>
    <p:sldId id="268" r:id="rId9"/>
    <p:sldId id="269" r:id="rId10"/>
    <p:sldId id="270" r:id="rId11"/>
    <p:sldId id="263" r:id="rId12"/>
    <p:sldId id="272" r:id="rId13"/>
  </p:sldIdLst>
  <p:sldSz cx="9144000" cy="6858000" type="screen4x3"/>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0" userDrawn="1">
          <p15:clr>
            <a:srgbClr val="A4A3A4"/>
          </p15:clr>
        </p15:guide>
        <p15:guide id="2" orient="horz" pos="1117" userDrawn="1">
          <p15:clr>
            <a:srgbClr val="A4A3A4"/>
          </p15:clr>
        </p15:guide>
        <p15:guide id="3" orient="horz" pos="1525" userDrawn="1">
          <p15:clr>
            <a:srgbClr val="A4A3A4"/>
          </p15:clr>
        </p15:guide>
        <p15:guide id="4" orient="horz" pos="3929" userDrawn="1">
          <p15:clr>
            <a:srgbClr val="A4A3A4"/>
          </p15:clr>
        </p15:guide>
        <p15:guide id="5" pos="204" userDrawn="1">
          <p15:clr>
            <a:srgbClr val="A4A3A4"/>
          </p15:clr>
        </p15:guide>
        <p15:guide id="6" pos="5556"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CB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69" autoAdjust="0"/>
    <p:restoredTop sz="94662"/>
  </p:normalViewPr>
  <p:slideViewPr>
    <p:cSldViewPr showGuides="1">
      <p:cViewPr varScale="1">
        <p:scale>
          <a:sx n="85" d="100"/>
          <a:sy n="85" d="100"/>
        </p:scale>
        <p:origin x="610" y="62"/>
      </p:cViewPr>
      <p:guideLst>
        <p:guide orient="horz" pos="300"/>
        <p:guide orient="horz" pos="1117"/>
        <p:guide orient="horz" pos="1525"/>
        <p:guide orient="horz" pos="3929"/>
        <p:guide pos="204"/>
        <p:guide pos="5556"/>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132" d="100"/>
          <a:sy n="132" d="100"/>
        </p:scale>
        <p:origin x="4344" y="16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D:\Downloads\Account%20Sales%20Data%20for%20Analysis%20v2%20(Recovere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Downloads\Account%20Sales%20Data%20for%20Analysis%20v2%20(Recovered).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Downloads\Account%20Sales%20Data%20for%20Analysis%20v2%20(Recovered).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Downloads\Account%20Sales%20Data%20for%20Analysis%20v2%20(Recovered).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Downloads\Account%20Sales%20Data%20for%20Analysis%20v2%20(Recovered).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Downloads\Account%20Sales%20Data%20for%20Analysis%20v2%20(Recovered).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Downloads\Account%20Sales%20Data%20for%20Analysis%20v2%20(Recovered).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D:\Downloads\Account%20Sales%20Data%20for%20Analysis%20v2%20(Recovered).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D:\Downloads\Account%20Sales%20Data%20for%20Analysis%20v2%20(Recovered).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D:\Downloads\Account%20Sales%20Data%20for%20Analysis%20v2%20(Recovered).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Sales to Bar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Sheet2!$A$4</c:f>
              <c:strCache>
                <c:ptCount val="1"/>
                <c:pt idx="0">
                  <c:v>Account Name</c:v>
                </c:pt>
              </c:strCache>
            </c:strRef>
          </c:tx>
          <c:spPr>
            <a:ln w="28575" cap="rnd">
              <a:solidFill>
                <a:schemeClr val="accent1"/>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Sheet2!$B$4:$F$4</c:f>
              <c:numCache>
                <c:formatCode>General</c:formatCode>
                <c:ptCount val="5"/>
                <c:pt idx="0">
                  <c:v>2017</c:v>
                </c:pt>
                <c:pt idx="1">
                  <c:v>2018</c:v>
                </c:pt>
                <c:pt idx="2">
                  <c:v>2019</c:v>
                </c:pt>
                <c:pt idx="3">
                  <c:v>2020</c:v>
                </c:pt>
                <c:pt idx="4">
                  <c:v>2021</c:v>
                </c:pt>
              </c:numCache>
            </c:numRef>
          </c:val>
          <c:smooth val="0"/>
          <c:extLst>
            <c:ext xmlns:c16="http://schemas.microsoft.com/office/drawing/2014/chart" uri="{C3380CC4-5D6E-409C-BE32-E72D297353CC}">
              <c16:uniqueId val="{00000000-318D-4CB9-98C6-D9C717D3ADE4}"/>
            </c:ext>
          </c:extLst>
        </c:ser>
        <c:ser>
          <c:idx val="1"/>
          <c:order val="1"/>
          <c:tx>
            <c:strRef>
              <c:f>Sheet2!$A$5</c:f>
              <c:strCache>
                <c:ptCount val="1"/>
                <c:pt idx="0">
                  <c:v>Bar 13</c:v>
                </c:pt>
              </c:strCache>
            </c:strRef>
          </c:tx>
          <c:spPr>
            <a:ln w="28575" cap="rnd">
              <a:solidFill>
                <a:schemeClr val="accent2"/>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Sheet2!$B$5:$F$5</c:f>
              <c:numCache>
                <c:formatCode>General</c:formatCode>
                <c:ptCount val="5"/>
                <c:pt idx="0">
                  <c:v>24</c:v>
                </c:pt>
                <c:pt idx="1">
                  <c:v>1797</c:v>
                </c:pt>
                <c:pt idx="2">
                  <c:v>3548</c:v>
                </c:pt>
                <c:pt idx="3">
                  <c:v>3668</c:v>
                </c:pt>
                <c:pt idx="4">
                  <c:v>8592</c:v>
                </c:pt>
              </c:numCache>
            </c:numRef>
          </c:val>
          <c:smooth val="0"/>
          <c:extLst>
            <c:ext xmlns:c16="http://schemas.microsoft.com/office/drawing/2014/chart" uri="{C3380CC4-5D6E-409C-BE32-E72D297353CC}">
              <c16:uniqueId val="{00000001-318D-4CB9-98C6-D9C717D3ADE4}"/>
            </c:ext>
          </c:extLst>
        </c:ser>
        <c:ser>
          <c:idx val="2"/>
          <c:order val="2"/>
          <c:tx>
            <c:strRef>
              <c:f>Sheet2!$A$6</c:f>
              <c:strCache>
                <c:ptCount val="1"/>
                <c:pt idx="0">
                  <c:v>Bar 14</c:v>
                </c:pt>
              </c:strCache>
            </c:strRef>
          </c:tx>
          <c:spPr>
            <a:ln w="28575" cap="rnd">
              <a:solidFill>
                <a:schemeClr val="accent3"/>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Sheet2!$B$6:$F$6</c:f>
              <c:numCache>
                <c:formatCode>General</c:formatCode>
                <c:ptCount val="5"/>
                <c:pt idx="0">
                  <c:v>861</c:v>
                </c:pt>
                <c:pt idx="1">
                  <c:v>1314</c:v>
                </c:pt>
                <c:pt idx="2">
                  <c:v>1810</c:v>
                </c:pt>
                <c:pt idx="3">
                  <c:v>6510</c:v>
                </c:pt>
                <c:pt idx="4">
                  <c:v>9271</c:v>
                </c:pt>
              </c:numCache>
            </c:numRef>
          </c:val>
          <c:smooth val="0"/>
          <c:extLst>
            <c:ext xmlns:c16="http://schemas.microsoft.com/office/drawing/2014/chart" uri="{C3380CC4-5D6E-409C-BE32-E72D297353CC}">
              <c16:uniqueId val="{00000002-318D-4CB9-98C6-D9C717D3ADE4}"/>
            </c:ext>
          </c:extLst>
        </c:ser>
        <c:ser>
          <c:idx val="3"/>
          <c:order val="3"/>
          <c:tx>
            <c:strRef>
              <c:f>Sheet2!$A$7</c:f>
              <c:strCache>
                <c:ptCount val="1"/>
                <c:pt idx="0">
                  <c:v>Bar 4</c:v>
                </c:pt>
              </c:strCache>
            </c:strRef>
          </c:tx>
          <c:spPr>
            <a:ln w="28575" cap="rnd">
              <a:solidFill>
                <a:schemeClr val="accent4"/>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Sheet2!$B$7:$F$7</c:f>
              <c:numCache>
                <c:formatCode>General</c:formatCode>
                <c:ptCount val="5"/>
                <c:pt idx="0">
                  <c:v>906</c:v>
                </c:pt>
                <c:pt idx="1">
                  <c:v>1251</c:v>
                </c:pt>
                <c:pt idx="2">
                  <c:v>2897</c:v>
                </c:pt>
                <c:pt idx="3">
                  <c:v>4499</c:v>
                </c:pt>
                <c:pt idx="4">
                  <c:v>9428</c:v>
                </c:pt>
              </c:numCache>
            </c:numRef>
          </c:val>
          <c:smooth val="0"/>
          <c:extLst>
            <c:ext xmlns:c16="http://schemas.microsoft.com/office/drawing/2014/chart" uri="{C3380CC4-5D6E-409C-BE32-E72D297353CC}">
              <c16:uniqueId val="{00000003-318D-4CB9-98C6-D9C717D3ADE4}"/>
            </c:ext>
          </c:extLst>
        </c:ser>
        <c:ser>
          <c:idx val="4"/>
          <c:order val="4"/>
          <c:tx>
            <c:strRef>
              <c:f>Sheet2!$A$8</c:f>
              <c:strCache>
                <c:ptCount val="1"/>
                <c:pt idx="0">
                  <c:v>Bar 3</c:v>
                </c:pt>
              </c:strCache>
            </c:strRef>
          </c:tx>
          <c:spPr>
            <a:ln w="28575" cap="rnd">
              <a:solidFill>
                <a:schemeClr val="accent5"/>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Sheet2!$B$8:$F$8</c:f>
              <c:numCache>
                <c:formatCode>General</c:formatCode>
                <c:ptCount val="5"/>
                <c:pt idx="0">
                  <c:v>1209</c:v>
                </c:pt>
                <c:pt idx="1">
                  <c:v>1534</c:v>
                </c:pt>
                <c:pt idx="2">
                  <c:v>1634</c:v>
                </c:pt>
                <c:pt idx="3">
                  <c:v>4302</c:v>
                </c:pt>
                <c:pt idx="4">
                  <c:v>9768</c:v>
                </c:pt>
              </c:numCache>
            </c:numRef>
          </c:val>
          <c:smooth val="0"/>
          <c:extLst>
            <c:ext xmlns:c16="http://schemas.microsoft.com/office/drawing/2014/chart" uri="{C3380CC4-5D6E-409C-BE32-E72D297353CC}">
              <c16:uniqueId val="{00000004-318D-4CB9-98C6-D9C717D3ADE4}"/>
            </c:ext>
          </c:extLst>
        </c:ser>
        <c:ser>
          <c:idx val="5"/>
          <c:order val="5"/>
          <c:tx>
            <c:strRef>
              <c:f>Sheet2!$A$9</c:f>
              <c:strCache>
                <c:ptCount val="1"/>
                <c:pt idx="0">
                  <c:v>Bar 8</c:v>
                </c:pt>
              </c:strCache>
            </c:strRef>
          </c:tx>
          <c:spPr>
            <a:ln w="28575" cap="rnd">
              <a:solidFill>
                <a:schemeClr val="accent6"/>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Sheet2!$B$9:$F$9</c:f>
              <c:numCache>
                <c:formatCode>General</c:formatCode>
                <c:ptCount val="5"/>
                <c:pt idx="0">
                  <c:v>1581</c:v>
                </c:pt>
                <c:pt idx="1">
                  <c:v>4799</c:v>
                </c:pt>
                <c:pt idx="2">
                  <c:v>6582</c:v>
                </c:pt>
                <c:pt idx="3">
                  <c:v>9024</c:v>
                </c:pt>
                <c:pt idx="4">
                  <c:v>9759</c:v>
                </c:pt>
              </c:numCache>
            </c:numRef>
          </c:val>
          <c:smooth val="0"/>
          <c:extLst>
            <c:ext xmlns:c16="http://schemas.microsoft.com/office/drawing/2014/chart" uri="{C3380CC4-5D6E-409C-BE32-E72D297353CC}">
              <c16:uniqueId val="{00000005-318D-4CB9-98C6-D9C717D3ADE4}"/>
            </c:ext>
          </c:extLst>
        </c:ser>
        <c:ser>
          <c:idx val="6"/>
          <c:order val="6"/>
          <c:tx>
            <c:strRef>
              <c:f>Sheet2!$A$10</c:f>
              <c:strCache>
                <c:ptCount val="1"/>
                <c:pt idx="0">
                  <c:v>Bar 1</c:v>
                </c:pt>
              </c:strCache>
            </c:strRef>
          </c:tx>
          <c:spPr>
            <a:ln w="28575" cap="rnd">
              <a:solidFill>
                <a:schemeClr val="accent1">
                  <a:lumMod val="60000"/>
                </a:schemeClr>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Sheet2!$B$10:$F$10</c:f>
              <c:numCache>
                <c:formatCode>General</c:formatCode>
                <c:ptCount val="5"/>
                <c:pt idx="0">
                  <c:v>1982</c:v>
                </c:pt>
                <c:pt idx="1">
                  <c:v>5388</c:v>
                </c:pt>
                <c:pt idx="2">
                  <c:v>7063</c:v>
                </c:pt>
                <c:pt idx="3">
                  <c:v>7208</c:v>
                </c:pt>
                <c:pt idx="4">
                  <c:v>9093</c:v>
                </c:pt>
              </c:numCache>
            </c:numRef>
          </c:val>
          <c:smooth val="0"/>
          <c:extLst>
            <c:ext xmlns:c16="http://schemas.microsoft.com/office/drawing/2014/chart" uri="{C3380CC4-5D6E-409C-BE32-E72D297353CC}">
              <c16:uniqueId val="{00000006-318D-4CB9-98C6-D9C717D3ADE4}"/>
            </c:ext>
          </c:extLst>
        </c:ser>
        <c:ser>
          <c:idx val="7"/>
          <c:order val="7"/>
          <c:tx>
            <c:strRef>
              <c:f>Sheet2!$A$11</c:f>
              <c:strCache>
                <c:ptCount val="1"/>
                <c:pt idx="0">
                  <c:v>Bar 5</c:v>
                </c:pt>
              </c:strCache>
            </c:strRef>
          </c:tx>
          <c:spPr>
            <a:ln w="28575" cap="rnd">
              <a:solidFill>
                <a:schemeClr val="accent2">
                  <a:lumMod val="60000"/>
                </a:schemeClr>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Sheet2!$B$11:$F$11</c:f>
              <c:numCache>
                <c:formatCode>General</c:formatCode>
                <c:ptCount val="5"/>
                <c:pt idx="0">
                  <c:v>1421</c:v>
                </c:pt>
                <c:pt idx="1">
                  <c:v>1893</c:v>
                </c:pt>
                <c:pt idx="2">
                  <c:v>2722</c:v>
                </c:pt>
                <c:pt idx="3">
                  <c:v>4410</c:v>
                </c:pt>
                <c:pt idx="4">
                  <c:v>5873</c:v>
                </c:pt>
              </c:numCache>
            </c:numRef>
          </c:val>
          <c:smooth val="0"/>
          <c:extLst>
            <c:ext xmlns:c16="http://schemas.microsoft.com/office/drawing/2014/chart" uri="{C3380CC4-5D6E-409C-BE32-E72D297353CC}">
              <c16:uniqueId val="{00000007-318D-4CB9-98C6-D9C717D3ADE4}"/>
            </c:ext>
          </c:extLst>
        </c:ser>
        <c:ser>
          <c:idx val="8"/>
          <c:order val="8"/>
          <c:tx>
            <c:strRef>
              <c:f>Sheet2!$A$12</c:f>
              <c:strCache>
                <c:ptCount val="1"/>
                <c:pt idx="0">
                  <c:v>Bar 10</c:v>
                </c:pt>
              </c:strCache>
            </c:strRef>
          </c:tx>
          <c:spPr>
            <a:ln w="28575" cap="rnd">
              <a:solidFill>
                <a:schemeClr val="accent3">
                  <a:lumMod val="60000"/>
                </a:schemeClr>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Sheet2!$B$12:$F$12</c:f>
              <c:numCache>
                <c:formatCode>General</c:formatCode>
                <c:ptCount val="5"/>
                <c:pt idx="0">
                  <c:v>1530</c:v>
                </c:pt>
                <c:pt idx="1">
                  <c:v>1620</c:v>
                </c:pt>
                <c:pt idx="2">
                  <c:v>2027</c:v>
                </c:pt>
                <c:pt idx="3">
                  <c:v>4881</c:v>
                </c:pt>
                <c:pt idx="4">
                  <c:v>6002</c:v>
                </c:pt>
              </c:numCache>
            </c:numRef>
          </c:val>
          <c:smooth val="0"/>
          <c:extLst>
            <c:ext xmlns:c16="http://schemas.microsoft.com/office/drawing/2014/chart" uri="{C3380CC4-5D6E-409C-BE32-E72D297353CC}">
              <c16:uniqueId val="{00000008-318D-4CB9-98C6-D9C717D3ADE4}"/>
            </c:ext>
          </c:extLst>
        </c:ser>
        <c:ser>
          <c:idx val="9"/>
          <c:order val="9"/>
          <c:tx>
            <c:strRef>
              <c:f>Sheet2!$A$13</c:f>
              <c:strCache>
                <c:ptCount val="1"/>
                <c:pt idx="0">
                  <c:v>Bar 6</c:v>
                </c:pt>
              </c:strCache>
            </c:strRef>
          </c:tx>
          <c:spPr>
            <a:ln w="28575" cap="rnd">
              <a:solidFill>
                <a:schemeClr val="accent4">
                  <a:lumMod val="60000"/>
                </a:schemeClr>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Sheet2!$B$13:$F$13</c:f>
              <c:numCache>
                <c:formatCode>General</c:formatCode>
                <c:ptCount val="5"/>
                <c:pt idx="0">
                  <c:v>2341</c:v>
                </c:pt>
                <c:pt idx="1">
                  <c:v>6105</c:v>
                </c:pt>
                <c:pt idx="2">
                  <c:v>7777</c:v>
                </c:pt>
                <c:pt idx="3">
                  <c:v>7891</c:v>
                </c:pt>
                <c:pt idx="4">
                  <c:v>8758</c:v>
                </c:pt>
              </c:numCache>
            </c:numRef>
          </c:val>
          <c:smooth val="0"/>
          <c:extLst>
            <c:ext xmlns:c16="http://schemas.microsoft.com/office/drawing/2014/chart" uri="{C3380CC4-5D6E-409C-BE32-E72D297353CC}">
              <c16:uniqueId val="{00000009-318D-4CB9-98C6-D9C717D3ADE4}"/>
            </c:ext>
          </c:extLst>
        </c:ser>
        <c:ser>
          <c:idx val="10"/>
          <c:order val="10"/>
          <c:tx>
            <c:strRef>
              <c:f>Sheet2!$A$14</c:f>
              <c:strCache>
                <c:ptCount val="1"/>
                <c:pt idx="0">
                  <c:v>Bar 12</c:v>
                </c:pt>
              </c:strCache>
            </c:strRef>
          </c:tx>
          <c:spPr>
            <a:ln w="28575" cap="rnd">
              <a:solidFill>
                <a:schemeClr val="accent5">
                  <a:lumMod val="60000"/>
                </a:schemeClr>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Sheet2!$B$14:$F$14</c:f>
              <c:numCache>
                <c:formatCode>General</c:formatCode>
                <c:ptCount val="5"/>
                <c:pt idx="0">
                  <c:v>1532</c:v>
                </c:pt>
                <c:pt idx="1">
                  <c:v>2678</c:v>
                </c:pt>
                <c:pt idx="2">
                  <c:v>4068</c:v>
                </c:pt>
                <c:pt idx="3">
                  <c:v>4278</c:v>
                </c:pt>
                <c:pt idx="4">
                  <c:v>5382</c:v>
                </c:pt>
              </c:numCache>
            </c:numRef>
          </c:val>
          <c:smooth val="0"/>
          <c:extLst>
            <c:ext xmlns:c16="http://schemas.microsoft.com/office/drawing/2014/chart" uri="{C3380CC4-5D6E-409C-BE32-E72D297353CC}">
              <c16:uniqueId val="{0000000A-318D-4CB9-98C6-D9C717D3ADE4}"/>
            </c:ext>
          </c:extLst>
        </c:ser>
        <c:ser>
          <c:idx val="11"/>
          <c:order val="11"/>
          <c:tx>
            <c:strRef>
              <c:f>Sheet2!$A$15</c:f>
              <c:strCache>
                <c:ptCount val="1"/>
                <c:pt idx="0">
                  <c:v>Bar 2</c:v>
                </c:pt>
              </c:strCache>
            </c:strRef>
          </c:tx>
          <c:spPr>
            <a:ln w="28575" cap="rnd">
              <a:solidFill>
                <a:schemeClr val="accent6">
                  <a:lumMod val="60000"/>
                </a:schemeClr>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Sheet2!$B$15:$F$15</c:f>
              <c:numCache>
                <c:formatCode>General</c:formatCode>
                <c:ptCount val="5"/>
                <c:pt idx="0">
                  <c:v>2786</c:v>
                </c:pt>
                <c:pt idx="1">
                  <c:v>3804</c:v>
                </c:pt>
                <c:pt idx="2">
                  <c:v>4121</c:v>
                </c:pt>
                <c:pt idx="3">
                  <c:v>6210</c:v>
                </c:pt>
                <c:pt idx="4">
                  <c:v>6909</c:v>
                </c:pt>
              </c:numCache>
            </c:numRef>
          </c:val>
          <c:smooth val="0"/>
          <c:extLst>
            <c:ext xmlns:c16="http://schemas.microsoft.com/office/drawing/2014/chart" uri="{C3380CC4-5D6E-409C-BE32-E72D297353CC}">
              <c16:uniqueId val="{0000000B-318D-4CB9-98C6-D9C717D3ADE4}"/>
            </c:ext>
          </c:extLst>
        </c:ser>
        <c:ser>
          <c:idx val="12"/>
          <c:order val="12"/>
          <c:tx>
            <c:strRef>
              <c:f>Sheet2!$A$16</c:f>
              <c:strCache>
                <c:ptCount val="1"/>
                <c:pt idx="0">
                  <c:v>Bar 11</c:v>
                </c:pt>
              </c:strCache>
            </c:strRef>
          </c:tx>
          <c:spPr>
            <a:ln w="28575" cap="rnd">
              <a:solidFill>
                <a:schemeClr val="accent1">
                  <a:lumMod val="80000"/>
                  <a:lumOff val="20000"/>
                </a:schemeClr>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Sheet2!$B$16:$F$16</c:f>
              <c:numCache>
                <c:formatCode>General</c:formatCode>
                <c:ptCount val="5"/>
                <c:pt idx="0">
                  <c:v>7555</c:v>
                </c:pt>
                <c:pt idx="1">
                  <c:v>6551</c:v>
                </c:pt>
                <c:pt idx="2">
                  <c:v>5188</c:v>
                </c:pt>
                <c:pt idx="3">
                  <c:v>3436</c:v>
                </c:pt>
                <c:pt idx="4">
                  <c:v>2359</c:v>
                </c:pt>
              </c:numCache>
            </c:numRef>
          </c:val>
          <c:smooth val="0"/>
          <c:extLst>
            <c:ext xmlns:c16="http://schemas.microsoft.com/office/drawing/2014/chart" uri="{C3380CC4-5D6E-409C-BE32-E72D297353CC}">
              <c16:uniqueId val="{0000000C-318D-4CB9-98C6-D9C717D3ADE4}"/>
            </c:ext>
          </c:extLst>
        </c:ser>
        <c:ser>
          <c:idx val="13"/>
          <c:order val="13"/>
          <c:tx>
            <c:strRef>
              <c:f>Sheet2!$A$17</c:f>
              <c:strCache>
                <c:ptCount val="1"/>
                <c:pt idx="0">
                  <c:v>Bar 9</c:v>
                </c:pt>
              </c:strCache>
            </c:strRef>
          </c:tx>
          <c:spPr>
            <a:ln w="28575" cap="rnd">
              <a:solidFill>
                <a:schemeClr val="accent2">
                  <a:lumMod val="80000"/>
                  <a:lumOff val="20000"/>
                </a:schemeClr>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Sheet2!$B$17:$F$17</c:f>
              <c:numCache>
                <c:formatCode>General</c:formatCode>
                <c:ptCount val="5"/>
                <c:pt idx="0">
                  <c:v>9766</c:v>
                </c:pt>
                <c:pt idx="1">
                  <c:v>8049</c:v>
                </c:pt>
                <c:pt idx="2">
                  <c:v>5556</c:v>
                </c:pt>
                <c:pt idx="3">
                  <c:v>5202</c:v>
                </c:pt>
                <c:pt idx="4">
                  <c:v>2373</c:v>
                </c:pt>
              </c:numCache>
            </c:numRef>
          </c:val>
          <c:smooth val="0"/>
          <c:extLst>
            <c:ext xmlns:c16="http://schemas.microsoft.com/office/drawing/2014/chart" uri="{C3380CC4-5D6E-409C-BE32-E72D297353CC}">
              <c16:uniqueId val="{0000000D-318D-4CB9-98C6-D9C717D3ADE4}"/>
            </c:ext>
          </c:extLst>
        </c:ser>
        <c:ser>
          <c:idx val="14"/>
          <c:order val="14"/>
          <c:tx>
            <c:strRef>
              <c:f>Sheet2!$A$18</c:f>
              <c:strCache>
                <c:ptCount val="1"/>
                <c:pt idx="0">
                  <c:v>Bar 15</c:v>
                </c:pt>
              </c:strCache>
            </c:strRef>
          </c:tx>
          <c:spPr>
            <a:ln w="28575" cap="rnd">
              <a:solidFill>
                <a:schemeClr val="accent3">
                  <a:lumMod val="80000"/>
                  <a:lumOff val="20000"/>
                </a:schemeClr>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Sheet2!$B$18:$F$18</c:f>
              <c:numCache>
                <c:formatCode>General</c:formatCode>
                <c:ptCount val="5"/>
                <c:pt idx="0">
                  <c:v>9058</c:v>
                </c:pt>
                <c:pt idx="1">
                  <c:v>4839</c:v>
                </c:pt>
                <c:pt idx="2">
                  <c:v>4776</c:v>
                </c:pt>
                <c:pt idx="3">
                  <c:v>4024</c:v>
                </c:pt>
                <c:pt idx="4">
                  <c:v>369</c:v>
                </c:pt>
              </c:numCache>
            </c:numRef>
          </c:val>
          <c:smooth val="0"/>
          <c:extLst>
            <c:ext xmlns:c16="http://schemas.microsoft.com/office/drawing/2014/chart" uri="{C3380CC4-5D6E-409C-BE32-E72D297353CC}">
              <c16:uniqueId val="{0000000E-318D-4CB9-98C6-D9C717D3ADE4}"/>
            </c:ext>
          </c:extLst>
        </c:ser>
        <c:ser>
          <c:idx val="15"/>
          <c:order val="15"/>
          <c:tx>
            <c:strRef>
              <c:f>Sheet2!$A$19</c:f>
              <c:strCache>
                <c:ptCount val="1"/>
                <c:pt idx="0">
                  <c:v>Bar 7</c:v>
                </c:pt>
              </c:strCache>
            </c:strRef>
          </c:tx>
          <c:spPr>
            <a:ln w="28575" cap="rnd">
              <a:solidFill>
                <a:schemeClr val="accent4">
                  <a:lumMod val="80000"/>
                  <a:lumOff val="20000"/>
                </a:schemeClr>
              </a:solidFill>
              <a:round/>
            </a:ln>
            <a:effectLst/>
          </c:spPr>
          <c:marker>
            <c:symbol val="none"/>
          </c:marker>
          <c:cat>
            <c:numRef>
              <c:f>Sheet2!$B$4:$F$4</c:f>
              <c:numCache>
                <c:formatCode>General</c:formatCode>
                <c:ptCount val="5"/>
                <c:pt idx="0">
                  <c:v>2017</c:v>
                </c:pt>
                <c:pt idx="1">
                  <c:v>2018</c:v>
                </c:pt>
                <c:pt idx="2">
                  <c:v>2019</c:v>
                </c:pt>
                <c:pt idx="3">
                  <c:v>2020</c:v>
                </c:pt>
                <c:pt idx="4">
                  <c:v>2021</c:v>
                </c:pt>
              </c:numCache>
            </c:numRef>
          </c:cat>
          <c:val>
            <c:numRef>
              <c:f>Sheet2!$B$19:$F$19</c:f>
              <c:numCache>
                <c:formatCode>General</c:formatCode>
                <c:ptCount val="5"/>
                <c:pt idx="0">
                  <c:v>9252</c:v>
                </c:pt>
                <c:pt idx="1">
                  <c:v>8499</c:v>
                </c:pt>
                <c:pt idx="2">
                  <c:v>991</c:v>
                </c:pt>
                <c:pt idx="3">
                  <c:v>448</c:v>
                </c:pt>
                <c:pt idx="4">
                  <c:v>211</c:v>
                </c:pt>
              </c:numCache>
            </c:numRef>
          </c:val>
          <c:smooth val="0"/>
          <c:extLst>
            <c:ext xmlns:c16="http://schemas.microsoft.com/office/drawing/2014/chart" uri="{C3380CC4-5D6E-409C-BE32-E72D297353CC}">
              <c16:uniqueId val="{0000000F-318D-4CB9-98C6-D9C717D3ADE4}"/>
            </c:ext>
          </c:extLst>
        </c:ser>
        <c:dLbls>
          <c:showLegendKey val="0"/>
          <c:showVal val="0"/>
          <c:showCatName val="0"/>
          <c:showSerName val="0"/>
          <c:showPercent val="0"/>
          <c:showBubbleSize val="0"/>
        </c:dLbls>
        <c:smooth val="0"/>
        <c:axId val="598254920"/>
        <c:axId val="598254200"/>
      </c:lineChart>
      <c:catAx>
        <c:axId val="59825492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Year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8254200"/>
        <c:crosses val="autoZero"/>
        <c:auto val="1"/>
        <c:lblAlgn val="ctr"/>
        <c:lblOffset val="100"/>
        <c:noMultiLvlLbl val="0"/>
      </c:catAx>
      <c:valAx>
        <c:axId val="5982542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Sales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82549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Sales to Nightclub </a:t>
            </a:r>
          </a:p>
        </c:rich>
      </c:tx>
      <c:layout>
        <c:manualLayout>
          <c:xMode val="edge"/>
          <c:yMode val="edge"/>
          <c:x val="0.40671522309711289"/>
          <c:y val="3.240740740740740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793653364839474"/>
          <c:y val="0.15470284546474475"/>
          <c:w val="0.78400781372795481"/>
          <c:h val="0.41279541009689713"/>
        </c:manualLayout>
      </c:layout>
      <c:lineChart>
        <c:grouping val="standard"/>
        <c:varyColors val="0"/>
        <c:ser>
          <c:idx val="0"/>
          <c:order val="0"/>
          <c:tx>
            <c:strRef>
              <c:f>Sheet3!$A$4</c:f>
              <c:strCache>
                <c:ptCount val="1"/>
                <c:pt idx="0">
                  <c:v>Account Name</c:v>
                </c:pt>
              </c:strCache>
            </c:strRef>
          </c:tx>
          <c:spPr>
            <a:ln w="28575" cap="rnd">
              <a:solidFill>
                <a:schemeClr val="accent1"/>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Sheet3!$B$4:$F$4</c:f>
              <c:numCache>
                <c:formatCode>General</c:formatCode>
                <c:ptCount val="5"/>
                <c:pt idx="0">
                  <c:v>2017</c:v>
                </c:pt>
                <c:pt idx="1">
                  <c:v>2018</c:v>
                </c:pt>
                <c:pt idx="2">
                  <c:v>2019</c:v>
                </c:pt>
                <c:pt idx="3">
                  <c:v>2020</c:v>
                </c:pt>
                <c:pt idx="4">
                  <c:v>2021</c:v>
                </c:pt>
              </c:numCache>
            </c:numRef>
          </c:val>
          <c:smooth val="0"/>
          <c:extLst>
            <c:ext xmlns:c16="http://schemas.microsoft.com/office/drawing/2014/chart" uri="{C3380CC4-5D6E-409C-BE32-E72D297353CC}">
              <c16:uniqueId val="{00000000-6966-4A8B-BAA0-E0CF704A2BF1}"/>
            </c:ext>
          </c:extLst>
        </c:ser>
        <c:ser>
          <c:idx val="1"/>
          <c:order val="1"/>
          <c:tx>
            <c:strRef>
              <c:f>Sheet3!$A$5</c:f>
              <c:strCache>
                <c:ptCount val="1"/>
                <c:pt idx="0">
                  <c:v>Nightclub 2</c:v>
                </c:pt>
              </c:strCache>
            </c:strRef>
          </c:tx>
          <c:spPr>
            <a:ln w="28575" cap="rnd">
              <a:solidFill>
                <a:schemeClr val="accent2"/>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Sheet3!$B$5:$F$5</c:f>
              <c:numCache>
                <c:formatCode>General</c:formatCode>
                <c:ptCount val="5"/>
                <c:pt idx="0">
                  <c:v>138</c:v>
                </c:pt>
                <c:pt idx="1">
                  <c:v>286</c:v>
                </c:pt>
                <c:pt idx="2">
                  <c:v>6750</c:v>
                </c:pt>
                <c:pt idx="3">
                  <c:v>8254</c:v>
                </c:pt>
                <c:pt idx="4">
                  <c:v>8656</c:v>
                </c:pt>
              </c:numCache>
            </c:numRef>
          </c:val>
          <c:smooth val="0"/>
          <c:extLst>
            <c:ext xmlns:c16="http://schemas.microsoft.com/office/drawing/2014/chart" uri="{C3380CC4-5D6E-409C-BE32-E72D297353CC}">
              <c16:uniqueId val="{00000001-6966-4A8B-BAA0-E0CF704A2BF1}"/>
            </c:ext>
          </c:extLst>
        </c:ser>
        <c:ser>
          <c:idx val="2"/>
          <c:order val="2"/>
          <c:tx>
            <c:strRef>
              <c:f>Sheet3!$A$6</c:f>
              <c:strCache>
                <c:ptCount val="1"/>
                <c:pt idx="0">
                  <c:v>Nightclub 10</c:v>
                </c:pt>
              </c:strCache>
            </c:strRef>
          </c:tx>
          <c:spPr>
            <a:ln w="28575" cap="rnd">
              <a:solidFill>
                <a:schemeClr val="accent3"/>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Sheet3!$B$6:$F$6</c:f>
              <c:numCache>
                <c:formatCode>General</c:formatCode>
                <c:ptCount val="5"/>
                <c:pt idx="0">
                  <c:v>376</c:v>
                </c:pt>
                <c:pt idx="1">
                  <c:v>889</c:v>
                </c:pt>
                <c:pt idx="2">
                  <c:v>4373</c:v>
                </c:pt>
                <c:pt idx="3">
                  <c:v>6803</c:v>
                </c:pt>
                <c:pt idx="4">
                  <c:v>7578</c:v>
                </c:pt>
              </c:numCache>
            </c:numRef>
          </c:val>
          <c:smooth val="0"/>
          <c:extLst>
            <c:ext xmlns:c16="http://schemas.microsoft.com/office/drawing/2014/chart" uri="{C3380CC4-5D6E-409C-BE32-E72D297353CC}">
              <c16:uniqueId val="{00000002-6966-4A8B-BAA0-E0CF704A2BF1}"/>
            </c:ext>
          </c:extLst>
        </c:ser>
        <c:ser>
          <c:idx val="3"/>
          <c:order val="3"/>
          <c:tx>
            <c:strRef>
              <c:f>Sheet3!$A$7</c:f>
              <c:strCache>
                <c:ptCount val="1"/>
                <c:pt idx="0">
                  <c:v>Nightclub 15</c:v>
                </c:pt>
              </c:strCache>
            </c:strRef>
          </c:tx>
          <c:spPr>
            <a:ln w="28575" cap="rnd">
              <a:solidFill>
                <a:schemeClr val="accent4"/>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Sheet3!$B$7:$F$7</c:f>
              <c:numCache>
                <c:formatCode>General</c:formatCode>
                <c:ptCount val="5"/>
                <c:pt idx="0">
                  <c:v>431</c:v>
                </c:pt>
                <c:pt idx="1">
                  <c:v>6231</c:v>
                </c:pt>
                <c:pt idx="2">
                  <c:v>7478</c:v>
                </c:pt>
                <c:pt idx="3">
                  <c:v>8039</c:v>
                </c:pt>
                <c:pt idx="4">
                  <c:v>8271</c:v>
                </c:pt>
              </c:numCache>
            </c:numRef>
          </c:val>
          <c:smooth val="0"/>
          <c:extLst>
            <c:ext xmlns:c16="http://schemas.microsoft.com/office/drawing/2014/chart" uri="{C3380CC4-5D6E-409C-BE32-E72D297353CC}">
              <c16:uniqueId val="{00000003-6966-4A8B-BAA0-E0CF704A2BF1}"/>
            </c:ext>
          </c:extLst>
        </c:ser>
        <c:ser>
          <c:idx val="4"/>
          <c:order val="4"/>
          <c:tx>
            <c:strRef>
              <c:f>Sheet3!$A$8</c:f>
              <c:strCache>
                <c:ptCount val="1"/>
                <c:pt idx="0">
                  <c:v>Nightclub 9</c:v>
                </c:pt>
              </c:strCache>
            </c:strRef>
          </c:tx>
          <c:spPr>
            <a:ln w="28575" cap="rnd">
              <a:solidFill>
                <a:schemeClr val="accent5"/>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Sheet3!$B$8:$F$8</c:f>
              <c:numCache>
                <c:formatCode>General</c:formatCode>
                <c:ptCount val="5"/>
                <c:pt idx="0">
                  <c:v>488</c:v>
                </c:pt>
                <c:pt idx="1">
                  <c:v>5535</c:v>
                </c:pt>
                <c:pt idx="2">
                  <c:v>5775</c:v>
                </c:pt>
                <c:pt idx="3">
                  <c:v>7661</c:v>
                </c:pt>
                <c:pt idx="4">
                  <c:v>9206</c:v>
                </c:pt>
              </c:numCache>
            </c:numRef>
          </c:val>
          <c:smooth val="0"/>
          <c:extLst>
            <c:ext xmlns:c16="http://schemas.microsoft.com/office/drawing/2014/chart" uri="{C3380CC4-5D6E-409C-BE32-E72D297353CC}">
              <c16:uniqueId val="{00000004-6966-4A8B-BAA0-E0CF704A2BF1}"/>
            </c:ext>
          </c:extLst>
        </c:ser>
        <c:ser>
          <c:idx val="5"/>
          <c:order val="5"/>
          <c:tx>
            <c:strRef>
              <c:f>Sheet3!$A$9</c:f>
              <c:strCache>
                <c:ptCount val="1"/>
                <c:pt idx="0">
                  <c:v>Nightclub 7</c:v>
                </c:pt>
              </c:strCache>
            </c:strRef>
          </c:tx>
          <c:spPr>
            <a:ln w="28575" cap="rnd">
              <a:solidFill>
                <a:schemeClr val="accent6"/>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Sheet3!$B$9:$F$9</c:f>
              <c:numCache>
                <c:formatCode>General</c:formatCode>
                <c:ptCount val="5"/>
                <c:pt idx="0">
                  <c:v>742</c:v>
                </c:pt>
                <c:pt idx="1">
                  <c:v>3751</c:v>
                </c:pt>
                <c:pt idx="2">
                  <c:v>4423</c:v>
                </c:pt>
                <c:pt idx="3">
                  <c:v>8733</c:v>
                </c:pt>
                <c:pt idx="4">
                  <c:v>9909</c:v>
                </c:pt>
              </c:numCache>
            </c:numRef>
          </c:val>
          <c:smooth val="0"/>
          <c:extLst>
            <c:ext xmlns:c16="http://schemas.microsoft.com/office/drawing/2014/chart" uri="{C3380CC4-5D6E-409C-BE32-E72D297353CC}">
              <c16:uniqueId val="{00000005-6966-4A8B-BAA0-E0CF704A2BF1}"/>
            </c:ext>
          </c:extLst>
        </c:ser>
        <c:ser>
          <c:idx val="6"/>
          <c:order val="6"/>
          <c:tx>
            <c:strRef>
              <c:f>Sheet3!$A$10</c:f>
              <c:strCache>
                <c:ptCount val="1"/>
                <c:pt idx="0">
                  <c:v>Nightclub 12</c:v>
                </c:pt>
              </c:strCache>
            </c:strRef>
          </c:tx>
          <c:spPr>
            <a:ln w="28575" cap="rnd">
              <a:solidFill>
                <a:schemeClr val="accent1">
                  <a:lumMod val="60000"/>
                </a:schemeClr>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Sheet3!$B$10:$F$10</c:f>
              <c:numCache>
                <c:formatCode>General</c:formatCode>
                <c:ptCount val="5"/>
                <c:pt idx="0">
                  <c:v>1038</c:v>
                </c:pt>
                <c:pt idx="1">
                  <c:v>3615</c:v>
                </c:pt>
                <c:pt idx="2">
                  <c:v>3712</c:v>
                </c:pt>
                <c:pt idx="3">
                  <c:v>5819</c:v>
                </c:pt>
                <c:pt idx="4">
                  <c:v>9589</c:v>
                </c:pt>
              </c:numCache>
            </c:numRef>
          </c:val>
          <c:smooth val="0"/>
          <c:extLst>
            <c:ext xmlns:c16="http://schemas.microsoft.com/office/drawing/2014/chart" uri="{C3380CC4-5D6E-409C-BE32-E72D297353CC}">
              <c16:uniqueId val="{00000006-6966-4A8B-BAA0-E0CF704A2BF1}"/>
            </c:ext>
          </c:extLst>
        </c:ser>
        <c:ser>
          <c:idx val="7"/>
          <c:order val="7"/>
          <c:tx>
            <c:strRef>
              <c:f>Sheet3!$A$11</c:f>
              <c:strCache>
                <c:ptCount val="1"/>
                <c:pt idx="0">
                  <c:v>Nightclub 5</c:v>
                </c:pt>
              </c:strCache>
            </c:strRef>
          </c:tx>
          <c:spPr>
            <a:ln w="28575" cap="rnd">
              <a:solidFill>
                <a:schemeClr val="accent2">
                  <a:lumMod val="60000"/>
                </a:schemeClr>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Sheet3!$B$11:$F$11</c:f>
              <c:numCache>
                <c:formatCode>General</c:formatCode>
                <c:ptCount val="5"/>
                <c:pt idx="0">
                  <c:v>1092</c:v>
                </c:pt>
                <c:pt idx="1">
                  <c:v>3140</c:v>
                </c:pt>
                <c:pt idx="2">
                  <c:v>4123</c:v>
                </c:pt>
                <c:pt idx="3">
                  <c:v>4366</c:v>
                </c:pt>
                <c:pt idx="4">
                  <c:v>9482</c:v>
                </c:pt>
              </c:numCache>
            </c:numRef>
          </c:val>
          <c:smooth val="0"/>
          <c:extLst>
            <c:ext xmlns:c16="http://schemas.microsoft.com/office/drawing/2014/chart" uri="{C3380CC4-5D6E-409C-BE32-E72D297353CC}">
              <c16:uniqueId val="{00000007-6966-4A8B-BAA0-E0CF704A2BF1}"/>
            </c:ext>
          </c:extLst>
        </c:ser>
        <c:ser>
          <c:idx val="8"/>
          <c:order val="8"/>
          <c:tx>
            <c:strRef>
              <c:f>Sheet3!$A$12</c:f>
              <c:strCache>
                <c:ptCount val="1"/>
                <c:pt idx="0">
                  <c:v>Nightclub 14</c:v>
                </c:pt>
              </c:strCache>
            </c:strRef>
          </c:tx>
          <c:spPr>
            <a:ln w="28575" cap="rnd">
              <a:solidFill>
                <a:schemeClr val="accent3">
                  <a:lumMod val="60000"/>
                </a:schemeClr>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Sheet3!$B$12:$F$12</c:f>
              <c:numCache>
                <c:formatCode>General</c:formatCode>
                <c:ptCount val="5"/>
                <c:pt idx="0">
                  <c:v>1290</c:v>
                </c:pt>
                <c:pt idx="1">
                  <c:v>4033</c:v>
                </c:pt>
                <c:pt idx="2">
                  <c:v>6956</c:v>
                </c:pt>
                <c:pt idx="3">
                  <c:v>7929</c:v>
                </c:pt>
                <c:pt idx="4">
                  <c:v>8834</c:v>
                </c:pt>
              </c:numCache>
            </c:numRef>
          </c:val>
          <c:smooth val="0"/>
          <c:extLst>
            <c:ext xmlns:c16="http://schemas.microsoft.com/office/drawing/2014/chart" uri="{C3380CC4-5D6E-409C-BE32-E72D297353CC}">
              <c16:uniqueId val="{00000008-6966-4A8B-BAA0-E0CF704A2BF1}"/>
            </c:ext>
          </c:extLst>
        </c:ser>
        <c:ser>
          <c:idx val="9"/>
          <c:order val="9"/>
          <c:tx>
            <c:strRef>
              <c:f>Sheet3!$A$13</c:f>
              <c:strCache>
                <c:ptCount val="1"/>
                <c:pt idx="0">
                  <c:v>Nightclub 6</c:v>
                </c:pt>
              </c:strCache>
            </c:strRef>
          </c:tx>
          <c:spPr>
            <a:ln w="28575" cap="rnd">
              <a:solidFill>
                <a:schemeClr val="accent4">
                  <a:lumMod val="60000"/>
                </a:schemeClr>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Sheet3!$B$13:$F$13</c:f>
              <c:numCache>
                <c:formatCode>General</c:formatCode>
                <c:ptCount val="5"/>
                <c:pt idx="0">
                  <c:v>2541</c:v>
                </c:pt>
                <c:pt idx="1">
                  <c:v>3794</c:v>
                </c:pt>
                <c:pt idx="2">
                  <c:v>3984</c:v>
                </c:pt>
                <c:pt idx="3">
                  <c:v>8803</c:v>
                </c:pt>
                <c:pt idx="4">
                  <c:v>9338</c:v>
                </c:pt>
              </c:numCache>
            </c:numRef>
          </c:val>
          <c:smooth val="0"/>
          <c:extLst>
            <c:ext xmlns:c16="http://schemas.microsoft.com/office/drawing/2014/chart" uri="{C3380CC4-5D6E-409C-BE32-E72D297353CC}">
              <c16:uniqueId val="{00000009-6966-4A8B-BAA0-E0CF704A2BF1}"/>
            </c:ext>
          </c:extLst>
        </c:ser>
        <c:ser>
          <c:idx val="10"/>
          <c:order val="10"/>
          <c:tx>
            <c:strRef>
              <c:f>Sheet3!$A$14</c:f>
              <c:strCache>
                <c:ptCount val="1"/>
                <c:pt idx="0">
                  <c:v>Nightclub 1</c:v>
                </c:pt>
              </c:strCache>
            </c:strRef>
          </c:tx>
          <c:spPr>
            <a:ln w="28575" cap="rnd">
              <a:solidFill>
                <a:schemeClr val="accent5">
                  <a:lumMod val="60000"/>
                </a:schemeClr>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Sheet3!$B$14:$F$14</c:f>
              <c:numCache>
                <c:formatCode>General</c:formatCode>
                <c:ptCount val="5"/>
                <c:pt idx="0">
                  <c:v>2519</c:v>
                </c:pt>
                <c:pt idx="1">
                  <c:v>3938</c:v>
                </c:pt>
                <c:pt idx="2">
                  <c:v>5190</c:v>
                </c:pt>
                <c:pt idx="3">
                  <c:v>8203</c:v>
                </c:pt>
                <c:pt idx="4">
                  <c:v>8780</c:v>
                </c:pt>
              </c:numCache>
            </c:numRef>
          </c:val>
          <c:smooth val="0"/>
          <c:extLst>
            <c:ext xmlns:c16="http://schemas.microsoft.com/office/drawing/2014/chart" uri="{C3380CC4-5D6E-409C-BE32-E72D297353CC}">
              <c16:uniqueId val="{0000000A-6966-4A8B-BAA0-E0CF704A2BF1}"/>
            </c:ext>
          </c:extLst>
        </c:ser>
        <c:ser>
          <c:idx val="11"/>
          <c:order val="11"/>
          <c:tx>
            <c:strRef>
              <c:f>Sheet3!$A$15</c:f>
              <c:strCache>
                <c:ptCount val="1"/>
                <c:pt idx="0">
                  <c:v>Nightclub 4</c:v>
                </c:pt>
              </c:strCache>
            </c:strRef>
          </c:tx>
          <c:spPr>
            <a:ln w="28575" cap="rnd">
              <a:solidFill>
                <a:schemeClr val="accent6">
                  <a:lumMod val="60000"/>
                </a:schemeClr>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Sheet3!$B$15:$F$15</c:f>
              <c:numCache>
                <c:formatCode>General</c:formatCode>
                <c:ptCount val="5"/>
                <c:pt idx="0">
                  <c:v>3297</c:v>
                </c:pt>
                <c:pt idx="1">
                  <c:v>4866</c:v>
                </c:pt>
                <c:pt idx="2">
                  <c:v>4928</c:v>
                </c:pt>
                <c:pt idx="3">
                  <c:v>8451</c:v>
                </c:pt>
                <c:pt idx="4">
                  <c:v>9585</c:v>
                </c:pt>
              </c:numCache>
            </c:numRef>
          </c:val>
          <c:smooth val="0"/>
          <c:extLst>
            <c:ext xmlns:c16="http://schemas.microsoft.com/office/drawing/2014/chart" uri="{C3380CC4-5D6E-409C-BE32-E72D297353CC}">
              <c16:uniqueId val="{0000000B-6966-4A8B-BAA0-E0CF704A2BF1}"/>
            </c:ext>
          </c:extLst>
        </c:ser>
        <c:ser>
          <c:idx val="12"/>
          <c:order val="12"/>
          <c:tx>
            <c:strRef>
              <c:f>Sheet3!$A$16</c:f>
              <c:strCache>
                <c:ptCount val="1"/>
                <c:pt idx="0">
                  <c:v>Nightclub 3</c:v>
                </c:pt>
              </c:strCache>
            </c:strRef>
          </c:tx>
          <c:spPr>
            <a:ln w="28575" cap="rnd">
              <a:solidFill>
                <a:schemeClr val="accent1">
                  <a:lumMod val="80000"/>
                  <a:lumOff val="20000"/>
                </a:schemeClr>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Sheet3!$B$16:$F$16</c:f>
              <c:numCache>
                <c:formatCode>General</c:formatCode>
                <c:ptCount val="5"/>
                <c:pt idx="0">
                  <c:v>8873</c:v>
                </c:pt>
                <c:pt idx="1">
                  <c:v>8484</c:v>
                </c:pt>
                <c:pt idx="2">
                  <c:v>7883</c:v>
                </c:pt>
                <c:pt idx="3">
                  <c:v>7499</c:v>
                </c:pt>
                <c:pt idx="4">
                  <c:v>6592</c:v>
                </c:pt>
              </c:numCache>
            </c:numRef>
          </c:val>
          <c:smooth val="0"/>
          <c:extLst>
            <c:ext xmlns:c16="http://schemas.microsoft.com/office/drawing/2014/chart" uri="{C3380CC4-5D6E-409C-BE32-E72D297353CC}">
              <c16:uniqueId val="{0000000C-6966-4A8B-BAA0-E0CF704A2BF1}"/>
            </c:ext>
          </c:extLst>
        </c:ser>
        <c:ser>
          <c:idx val="13"/>
          <c:order val="13"/>
          <c:tx>
            <c:strRef>
              <c:f>Sheet3!$A$17</c:f>
              <c:strCache>
                <c:ptCount val="1"/>
                <c:pt idx="0">
                  <c:v>Nightclub 13</c:v>
                </c:pt>
              </c:strCache>
            </c:strRef>
          </c:tx>
          <c:spPr>
            <a:ln w="28575" cap="rnd">
              <a:solidFill>
                <a:schemeClr val="accent2">
                  <a:lumMod val="80000"/>
                  <a:lumOff val="20000"/>
                </a:schemeClr>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Sheet3!$B$17:$F$17</c:f>
              <c:numCache>
                <c:formatCode>General</c:formatCode>
                <c:ptCount val="5"/>
                <c:pt idx="0">
                  <c:v>8891</c:v>
                </c:pt>
                <c:pt idx="1">
                  <c:v>5952</c:v>
                </c:pt>
                <c:pt idx="2">
                  <c:v>5914</c:v>
                </c:pt>
                <c:pt idx="3">
                  <c:v>5405</c:v>
                </c:pt>
                <c:pt idx="4">
                  <c:v>4031</c:v>
                </c:pt>
              </c:numCache>
            </c:numRef>
          </c:val>
          <c:smooth val="0"/>
          <c:extLst>
            <c:ext xmlns:c16="http://schemas.microsoft.com/office/drawing/2014/chart" uri="{C3380CC4-5D6E-409C-BE32-E72D297353CC}">
              <c16:uniqueId val="{0000000D-6966-4A8B-BAA0-E0CF704A2BF1}"/>
            </c:ext>
          </c:extLst>
        </c:ser>
        <c:ser>
          <c:idx val="14"/>
          <c:order val="14"/>
          <c:tx>
            <c:strRef>
              <c:f>Sheet3!$A$18</c:f>
              <c:strCache>
                <c:ptCount val="1"/>
                <c:pt idx="0">
                  <c:v>Nightclub 8</c:v>
                </c:pt>
              </c:strCache>
            </c:strRef>
          </c:tx>
          <c:spPr>
            <a:ln w="28575" cap="rnd">
              <a:solidFill>
                <a:schemeClr val="accent3">
                  <a:lumMod val="80000"/>
                  <a:lumOff val="20000"/>
                </a:schemeClr>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Sheet3!$B$18:$F$18</c:f>
              <c:numCache>
                <c:formatCode>General</c:formatCode>
                <c:ptCount val="5"/>
                <c:pt idx="0">
                  <c:v>7703</c:v>
                </c:pt>
                <c:pt idx="1">
                  <c:v>6957</c:v>
                </c:pt>
                <c:pt idx="2">
                  <c:v>3898</c:v>
                </c:pt>
                <c:pt idx="3">
                  <c:v>1857</c:v>
                </c:pt>
                <c:pt idx="4">
                  <c:v>1512</c:v>
                </c:pt>
              </c:numCache>
            </c:numRef>
          </c:val>
          <c:smooth val="0"/>
          <c:extLst>
            <c:ext xmlns:c16="http://schemas.microsoft.com/office/drawing/2014/chart" uri="{C3380CC4-5D6E-409C-BE32-E72D297353CC}">
              <c16:uniqueId val="{0000000E-6966-4A8B-BAA0-E0CF704A2BF1}"/>
            </c:ext>
          </c:extLst>
        </c:ser>
        <c:ser>
          <c:idx val="15"/>
          <c:order val="15"/>
          <c:tx>
            <c:strRef>
              <c:f>Sheet3!$A$19</c:f>
              <c:strCache>
                <c:ptCount val="1"/>
                <c:pt idx="0">
                  <c:v>Nightclub 11</c:v>
                </c:pt>
              </c:strCache>
            </c:strRef>
          </c:tx>
          <c:spPr>
            <a:ln w="28575" cap="rnd">
              <a:solidFill>
                <a:schemeClr val="accent4">
                  <a:lumMod val="80000"/>
                  <a:lumOff val="20000"/>
                </a:schemeClr>
              </a:solidFill>
              <a:round/>
            </a:ln>
            <a:effectLst/>
          </c:spPr>
          <c:marker>
            <c:symbol val="none"/>
          </c:marker>
          <c:cat>
            <c:numRef>
              <c:f>Sheet3!$B$4:$F$4</c:f>
              <c:numCache>
                <c:formatCode>General</c:formatCode>
                <c:ptCount val="5"/>
                <c:pt idx="0">
                  <c:v>2017</c:v>
                </c:pt>
                <c:pt idx="1">
                  <c:v>2018</c:v>
                </c:pt>
                <c:pt idx="2">
                  <c:v>2019</c:v>
                </c:pt>
                <c:pt idx="3">
                  <c:v>2020</c:v>
                </c:pt>
                <c:pt idx="4">
                  <c:v>2021</c:v>
                </c:pt>
              </c:numCache>
            </c:numRef>
          </c:cat>
          <c:val>
            <c:numRef>
              <c:f>Sheet3!$B$19:$F$19</c:f>
              <c:numCache>
                <c:formatCode>General</c:formatCode>
                <c:ptCount val="5"/>
                <c:pt idx="0">
                  <c:v>7840</c:v>
                </c:pt>
                <c:pt idx="1">
                  <c:v>5804</c:v>
                </c:pt>
                <c:pt idx="2">
                  <c:v>4259</c:v>
                </c:pt>
                <c:pt idx="3">
                  <c:v>4243</c:v>
                </c:pt>
                <c:pt idx="4">
                  <c:v>907</c:v>
                </c:pt>
              </c:numCache>
            </c:numRef>
          </c:val>
          <c:smooth val="0"/>
          <c:extLst>
            <c:ext xmlns:c16="http://schemas.microsoft.com/office/drawing/2014/chart" uri="{C3380CC4-5D6E-409C-BE32-E72D297353CC}">
              <c16:uniqueId val="{0000000F-6966-4A8B-BAA0-E0CF704A2BF1}"/>
            </c:ext>
          </c:extLst>
        </c:ser>
        <c:dLbls>
          <c:showLegendKey val="0"/>
          <c:showVal val="0"/>
          <c:showCatName val="0"/>
          <c:showSerName val="0"/>
          <c:showPercent val="0"/>
          <c:showBubbleSize val="0"/>
        </c:dLbls>
        <c:smooth val="0"/>
        <c:axId val="113335880"/>
        <c:axId val="113339480"/>
      </c:lineChart>
      <c:catAx>
        <c:axId val="11333588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Year</a:t>
                </a:r>
              </a:p>
            </c:rich>
          </c:tx>
          <c:layout>
            <c:manualLayout>
              <c:xMode val="edge"/>
              <c:yMode val="edge"/>
              <c:x val="0.49442762375861665"/>
              <c:y val="0.6218750759716482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3339480"/>
        <c:crosses val="autoZero"/>
        <c:auto val="1"/>
        <c:lblAlgn val="ctr"/>
        <c:lblOffset val="100"/>
        <c:noMultiLvlLbl val="0"/>
      </c:catAx>
      <c:valAx>
        <c:axId val="11333948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Sales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33358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Sales to Hotel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Sheet4!$A$4</c:f>
              <c:strCache>
                <c:ptCount val="1"/>
                <c:pt idx="0">
                  <c:v>Account Name</c:v>
                </c:pt>
              </c:strCache>
            </c:strRef>
          </c:tx>
          <c:spPr>
            <a:ln w="28575" cap="rnd">
              <a:solidFill>
                <a:schemeClr val="accent1"/>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Sheet4!$B$4:$F$4</c:f>
              <c:numCache>
                <c:formatCode>General</c:formatCode>
                <c:ptCount val="5"/>
                <c:pt idx="0">
                  <c:v>2017</c:v>
                </c:pt>
                <c:pt idx="1">
                  <c:v>2018</c:v>
                </c:pt>
                <c:pt idx="2">
                  <c:v>2019</c:v>
                </c:pt>
                <c:pt idx="3">
                  <c:v>2020</c:v>
                </c:pt>
                <c:pt idx="4">
                  <c:v>2021</c:v>
                </c:pt>
              </c:numCache>
            </c:numRef>
          </c:val>
          <c:smooth val="0"/>
          <c:extLst>
            <c:ext xmlns:c16="http://schemas.microsoft.com/office/drawing/2014/chart" uri="{C3380CC4-5D6E-409C-BE32-E72D297353CC}">
              <c16:uniqueId val="{00000000-7F5F-40EC-8396-0CBA0C76FAB2}"/>
            </c:ext>
          </c:extLst>
        </c:ser>
        <c:ser>
          <c:idx val="1"/>
          <c:order val="1"/>
          <c:tx>
            <c:strRef>
              <c:f>Sheet4!$A$5</c:f>
              <c:strCache>
                <c:ptCount val="1"/>
                <c:pt idx="0">
                  <c:v>Event Venue 11</c:v>
                </c:pt>
              </c:strCache>
            </c:strRef>
          </c:tx>
          <c:spPr>
            <a:ln w="28575" cap="rnd">
              <a:solidFill>
                <a:schemeClr val="accent2"/>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Sheet4!$B$5:$F$5</c:f>
              <c:numCache>
                <c:formatCode>General</c:formatCode>
                <c:ptCount val="5"/>
                <c:pt idx="0">
                  <c:v>128</c:v>
                </c:pt>
                <c:pt idx="1">
                  <c:v>416</c:v>
                </c:pt>
                <c:pt idx="2">
                  <c:v>747</c:v>
                </c:pt>
                <c:pt idx="3">
                  <c:v>1028</c:v>
                </c:pt>
                <c:pt idx="4">
                  <c:v>6357</c:v>
                </c:pt>
              </c:numCache>
            </c:numRef>
          </c:val>
          <c:smooth val="0"/>
          <c:extLst>
            <c:ext xmlns:c16="http://schemas.microsoft.com/office/drawing/2014/chart" uri="{C3380CC4-5D6E-409C-BE32-E72D297353CC}">
              <c16:uniqueId val="{00000001-7F5F-40EC-8396-0CBA0C76FAB2}"/>
            </c:ext>
          </c:extLst>
        </c:ser>
        <c:ser>
          <c:idx val="2"/>
          <c:order val="2"/>
          <c:tx>
            <c:strRef>
              <c:f>Sheet4!$A$6</c:f>
              <c:strCache>
                <c:ptCount val="1"/>
                <c:pt idx="0">
                  <c:v>Event Venue 2</c:v>
                </c:pt>
              </c:strCache>
            </c:strRef>
          </c:tx>
          <c:spPr>
            <a:ln w="28575" cap="rnd">
              <a:solidFill>
                <a:schemeClr val="accent3"/>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Sheet4!$B$6:$F$6</c:f>
              <c:numCache>
                <c:formatCode>General</c:formatCode>
                <c:ptCount val="5"/>
                <c:pt idx="0">
                  <c:v>299</c:v>
                </c:pt>
                <c:pt idx="1">
                  <c:v>657</c:v>
                </c:pt>
                <c:pt idx="2">
                  <c:v>6238</c:v>
                </c:pt>
                <c:pt idx="3">
                  <c:v>8922</c:v>
                </c:pt>
                <c:pt idx="4">
                  <c:v>9081</c:v>
                </c:pt>
              </c:numCache>
            </c:numRef>
          </c:val>
          <c:smooth val="0"/>
          <c:extLst>
            <c:ext xmlns:c16="http://schemas.microsoft.com/office/drawing/2014/chart" uri="{C3380CC4-5D6E-409C-BE32-E72D297353CC}">
              <c16:uniqueId val="{00000002-7F5F-40EC-8396-0CBA0C76FAB2}"/>
            </c:ext>
          </c:extLst>
        </c:ser>
        <c:ser>
          <c:idx val="3"/>
          <c:order val="3"/>
          <c:tx>
            <c:strRef>
              <c:f>Sheet4!$A$7</c:f>
              <c:strCache>
                <c:ptCount val="1"/>
                <c:pt idx="0">
                  <c:v>Event Venue 5</c:v>
                </c:pt>
              </c:strCache>
            </c:strRef>
          </c:tx>
          <c:spPr>
            <a:ln w="28575" cap="rnd">
              <a:solidFill>
                <a:schemeClr val="accent4"/>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Sheet4!$B$7:$F$7</c:f>
              <c:numCache>
                <c:formatCode>General</c:formatCode>
                <c:ptCount val="5"/>
                <c:pt idx="0">
                  <c:v>870</c:v>
                </c:pt>
                <c:pt idx="1">
                  <c:v>2428</c:v>
                </c:pt>
                <c:pt idx="2">
                  <c:v>7386</c:v>
                </c:pt>
                <c:pt idx="3">
                  <c:v>8835</c:v>
                </c:pt>
                <c:pt idx="4">
                  <c:v>9766</c:v>
                </c:pt>
              </c:numCache>
            </c:numRef>
          </c:val>
          <c:smooth val="0"/>
          <c:extLst>
            <c:ext xmlns:c16="http://schemas.microsoft.com/office/drawing/2014/chart" uri="{C3380CC4-5D6E-409C-BE32-E72D297353CC}">
              <c16:uniqueId val="{00000003-7F5F-40EC-8396-0CBA0C76FAB2}"/>
            </c:ext>
          </c:extLst>
        </c:ser>
        <c:ser>
          <c:idx val="4"/>
          <c:order val="4"/>
          <c:tx>
            <c:strRef>
              <c:f>Sheet4!$A$8</c:f>
              <c:strCache>
                <c:ptCount val="1"/>
                <c:pt idx="0">
                  <c:v>Event Venue 10</c:v>
                </c:pt>
              </c:strCache>
            </c:strRef>
          </c:tx>
          <c:spPr>
            <a:ln w="28575" cap="rnd">
              <a:solidFill>
                <a:schemeClr val="accent5"/>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Sheet4!$B$8:$F$8</c:f>
              <c:numCache>
                <c:formatCode>General</c:formatCode>
                <c:ptCount val="5"/>
                <c:pt idx="0">
                  <c:v>576</c:v>
                </c:pt>
                <c:pt idx="1">
                  <c:v>2628</c:v>
                </c:pt>
                <c:pt idx="2">
                  <c:v>3612</c:v>
                </c:pt>
                <c:pt idx="3">
                  <c:v>5066</c:v>
                </c:pt>
                <c:pt idx="4">
                  <c:v>5156</c:v>
                </c:pt>
              </c:numCache>
            </c:numRef>
          </c:val>
          <c:smooth val="0"/>
          <c:extLst>
            <c:ext xmlns:c16="http://schemas.microsoft.com/office/drawing/2014/chart" uri="{C3380CC4-5D6E-409C-BE32-E72D297353CC}">
              <c16:uniqueId val="{00000004-7F5F-40EC-8396-0CBA0C76FAB2}"/>
            </c:ext>
          </c:extLst>
        </c:ser>
        <c:ser>
          <c:idx val="5"/>
          <c:order val="5"/>
          <c:tx>
            <c:strRef>
              <c:f>Sheet4!$A$9</c:f>
              <c:strCache>
                <c:ptCount val="1"/>
                <c:pt idx="0">
                  <c:v>Event Venue 7</c:v>
                </c:pt>
              </c:strCache>
            </c:strRef>
          </c:tx>
          <c:spPr>
            <a:ln w="28575" cap="rnd">
              <a:solidFill>
                <a:schemeClr val="accent6"/>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Sheet4!$B$9:$F$9</c:f>
              <c:numCache>
                <c:formatCode>General</c:formatCode>
                <c:ptCount val="5"/>
                <c:pt idx="0">
                  <c:v>1082</c:v>
                </c:pt>
                <c:pt idx="1">
                  <c:v>3353</c:v>
                </c:pt>
                <c:pt idx="2">
                  <c:v>6351</c:v>
                </c:pt>
                <c:pt idx="3">
                  <c:v>8550</c:v>
                </c:pt>
                <c:pt idx="4">
                  <c:v>9272</c:v>
                </c:pt>
              </c:numCache>
            </c:numRef>
          </c:val>
          <c:smooth val="0"/>
          <c:extLst>
            <c:ext xmlns:c16="http://schemas.microsoft.com/office/drawing/2014/chart" uri="{C3380CC4-5D6E-409C-BE32-E72D297353CC}">
              <c16:uniqueId val="{00000005-7F5F-40EC-8396-0CBA0C76FAB2}"/>
            </c:ext>
          </c:extLst>
        </c:ser>
        <c:ser>
          <c:idx val="6"/>
          <c:order val="6"/>
          <c:tx>
            <c:strRef>
              <c:f>Sheet4!$A$10</c:f>
              <c:strCache>
                <c:ptCount val="1"/>
                <c:pt idx="0">
                  <c:v>Event Venue 13</c:v>
                </c:pt>
              </c:strCache>
            </c:strRef>
          </c:tx>
          <c:spPr>
            <a:ln w="28575" cap="rnd">
              <a:solidFill>
                <a:schemeClr val="accent1">
                  <a:lumMod val="60000"/>
                </a:schemeClr>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Sheet4!$B$10:$F$10</c:f>
              <c:numCache>
                <c:formatCode>General</c:formatCode>
                <c:ptCount val="5"/>
                <c:pt idx="0">
                  <c:v>1263</c:v>
                </c:pt>
                <c:pt idx="1">
                  <c:v>2517</c:v>
                </c:pt>
                <c:pt idx="2">
                  <c:v>8042</c:v>
                </c:pt>
                <c:pt idx="3">
                  <c:v>8222</c:v>
                </c:pt>
                <c:pt idx="4">
                  <c:v>9686</c:v>
                </c:pt>
              </c:numCache>
            </c:numRef>
          </c:val>
          <c:smooth val="0"/>
          <c:extLst>
            <c:ext xmlns:c16="http://schemas.microsoft.com/office/drawing/2014/chart" uri="{C3380CC4-5D6E-409C-BE32-E72D297353CC}">
              <c16:uniqueId val="{00000006-7F5F-40EC-8396-0CBA0C76FAB2}"/>
            </c:ext>
          </c:extLst>
        </c:ser>
        <c:ser>
          <c:idx val="7"/>
          <c:order val="7"/>
          <c:tx>
            <c:strRef>
              <c:f>Sheet4!$A$11</c:f>
              <c:strCache>
                <c:ptCount val="1"/>
                <c:pt idx="0">
                  <c:v>Event Venue 15</c:v>
                </c:pt>
              </c:strCache>
            </c:strRef>
          </c:tx>
          <c:spPr>
            <a:ln w="28575" cap="rnd">
              <a:solidFill>
                <a:schemeClr val="accent2">
                  <a:lumMod val="60000"/>
                </a:schemeClr>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Sheet4!$B$11:$F$11</c:f>
              <c:numCache>
                <c:formatCode>General</c:formatCode>
                <c:ptCount val="5"/>
                <c:pt idx="0">
                  <c:v>1014</c:v>
                </c:pt>
                <c:pt idx="1">
                  <c:v>2254</c:v>
                </c:pt>
                <c:pt idx="2">
                  <c:v>4534</c:v>
                </c:pt>
                <c:pt idx="3">
                  <c:v>6796</c:v>
                </c:pt>
                <c:pt idx="4">
                  <c:v>7730</c:v>
                </c:pt>
              </c:numCache>
            </c:numRef>
          </c:val>
          <c:smooth val="0"/>
          <c:extLst>
            <c:ext xmlns:c16="http://schemas.microsoft.com/office/drawing/2014/chart" uri="{C3380CC4-5D6E-409C-BE32-E72D297353CC}">
              <c16:uniqueId val="{00000007-7F5F-40EC-8396-0CBA0C76FAB2}"/>
            </c:ext>
          </c:extLst>
        </c:ser>
        <c:ser>
          <c:idx val="8"/>
          <c:order val="8"/>
          <c:tx>
            <c:strRef>
              <c:f>Sheet4!$A$12</c:f>
              <c:strCache>
                <c:ptCount val="1"/>
                <c:pt idx="0">
                  <c:v>Event Venue 9</c:v>
                </c:pt>
              </c:strCache>
            </c:strRef>
          </c:tx>
          <c:spPr>
            <a:ln w="28575" cap="rnd">
              <a:solidFill>
                <a:schemeClr val="accent3">
                  <a:lumMod val="60000"/>
                </a:schemeClr>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Sheet4!$B$12:$F$12</c:f>
              <c:numCache>
                <c:formatCode>General</c:formatCode>
                <c:ptCount val="5"/>
                <c:pt idx="0">
                  <c:v>1357</c:v>
                </c:pt>
                <c:pt idx="1">
                  <c:v>4189</c:v>
                </c:pt>
                <c:pt idx="2">
                  <c:v>5407</c:v>
                </c:pt>
                <c:pt idx="3">
                  <c:v>6233</c:v>
                </c:pt>
                <c:pt idx="4">
                  <c:v>9681</c:v>
                </c:pt>
              </c:numCache>
            </c:numRef>
          </c:val>
          <c:smooth val="0"/>
          <c:extLst>
            <c:ext xmlns:c16="http://schemas.microsoft.com/office/drawing/2014/chart" uri="{C3380CC4-5D6E-409C-BE32-E72D297353CC}">
              <c16:uniqueId val="{00000008-7F5F-40EC-8396-0CBA0C76FAB2}"/>
            </c:ext>
          </c:extLst>
        </c:ser>
        <c:ser>
          <c:idx val="9"/>
          <c:order val="9"/>
          <c:tx>
            <c:strRef>
              <c:f>Sheet4!$A$13</c:f>
              <c:strCache>
                <c:ptCount val="1"/>
                <c:pt idx="0">
                  <c:v>Event Venue 6</c:v>
                </c:pt>
              </c:strCache>
            </c:strRef>
          </c:tx>
          <c:spPr>
            <a:ln w="28575" cap="rnd">
              <a:solidFill>
                <a:schemeClr val="accent4">
                  <a:lumMod val="60000"/>
                </a:schemeClr>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Sheet4!$B$13:$F$13</c:f>
              <c:numCache>
                <c:formatCode>General</c:formatCode>
                <c:ptCount val="5"/>
                <c:pt idx="0">
                  <c:v>1497</c:v>
                </c:pt>
                <c:pt idx="1">
                  <c:v>1768</c:v>
                </c:pt>
                <c:pt idx="2">
                  <c:v>2804</c:v>
                </c:pt>
                <c:pt idx="3">
                  <c:v>5718</c:v>
                </c:pt>
                <c:pt idx="4">
                  <c:v>9822</c:v>
                </c:pt>
              </c:numCache>
            </c:numRef>
          </c:val>
          <c:smooth val="0"/>
          <c:extLst>
            <c:ext xmlns:c16="http://schemas.microsoft.com/office/drawing/2014/chart" uri="{C3380CC4-5D6E-409C-BE32-E72D297353CC}">
              <c16:uniqueId val="{00000009-7F5F-40EC-8396-0CBA0C76FAB2}"/>
            </c:ext>
          </c:extLst>
        </c:ser>
        <c:ser>
          <c:idx val="10"/>
          <c:order val="10"/>
          <c:tx>
            <c:strRef>
              <c:f>Sheet4!$A$14</c:f>
              <c:strCache>
                <c:ptCount val="1"/>
                <c:pt idx="0">
                  <c:v>Event Venue 14</c:v>
                </c:pt>
              </c:strCache>
            </c:strRef>
          </c:tx>
          <c:spPr>
            <a:ln w="28575" cap="rnd">
              <a:solidFill>
                <a:schemeClr val="accent5">
                  <a:lumMod val="60000"/>
                </a:schemeClr>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Sheet4!$B$14:$F$14</c:f>
              <c:numCache>
                <c:formatCode>General</c:formatCode>
                <c:ptCount val="5"/>
                <c:pt idx="0">
                  <c:v>1032</c:v>
                </c:pt>
                <c:pt idx="1">
                  <c:v>3919</c:v>
                </c:pt>
                <c:pt idx="2">
                  <c:v>4466</c:v>
                </c:pt>
                <c:pt idx="3">
                  <c:v>5568</c:v>
                </c:pt>
                <c:pt idx="4">
                  <c:v>6476</c:v>
                </c:pt>
              </c:numCache>
            </c:numRef>
          </c:val>
          <c:smooth val="0"/>
          <c:extLst>
            <c:ext xmlns:c16="http://schemas.microsoft.com/office/drawing/2014/chart" uri="{C3380CC4-5D6E-409C-BE32-E72D297353CC}">
              <c16:uniqueId val="{0000000A-7F5F-40EC-8396-0CBA0C76FAB2}"/>
            </c:ext>
          </c:extLst>
        </c:ser>
        <c:ser>
          <c:idx val="11"/>
          <c:order val="11"/>
          <c:tx>
            <c:strRef>
              <c:f>Sheet4!$A$15</c:f>
              <c:strCache>
                <c:ptCount val="1"/>
                <c:pt idx="0">
                  <c:v>Event Venue 3</c:v>
                </c:pt>
              </c:strCache>
            </c:strRef>
          </c:tx>
          <c:spPr>
            <a:ln w="28575" cap="rnd">
              <a:solidFill>
                <a:schemeClr val="accent6">
                  <a:lumMod val="60000"/>
                </a:schemeClr>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Sheet4!$B$15:$F$15</c:f>
              <c:numCache>
                <c:formatCode>General</c:formatCode>
                <c:ptCount val="5"/>
                <c:pt idx="0">
                  <c:v>1323</c:v>
                </c:pt>
                <c:pt idx="1">
                  <c:v>4963</c:v>
                </c:pt>
                <c:pt idx="2">
                  <c:v>6292</c:v>
                </c:pt>
                <c:pt idx="3">
                  <c:v>6728</c:v>
                </c:pt>
                <c:pt idx="4">
                  <c:v>8202</c:v>
                </c:pt>
              </c:numCache>
            </c:numRef>
          </c:val>
          <c:smooth val="0"/>
          <c:extLst>
            <c:ext xmlns:c16="http://schemas.microsoft.com/office/drawing/2014/chart" uri="{C3380CC4-5D6E-409C-BE32-E72D297353CC}">
              <c16:uniqueId val="{0000000B-7F5F-40EC-8396-0CBA0C76FAB2}"/>
            </c:ext>
          </c:extLst>
        </c:ser>
        <c:ser>
          <c:idx val="12"/>
          <c:order val="12"/>
          <c:tx>
            <c:strRef>
              <c:f>Sheet4!$A$16</c:f>
              <c:strCache>
                <c:ptCount val="1"/>
                <c:pt idx="0">
                  <c:v>Event Venue 8</c:v>
                </c:pt>
              </c:strCache>
            </c:strRef>
          </c:tx>
          <c:spPr>
            <a:ln w="28575" cap="rnd">
              <a:solidFill>
                <a:schemeClr val="accent1">
                  <a:lumMod val="80000"/>
                  <a:lumOff val="20000"/>
                </a:schemeClr>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Sheet4!$B$16:$F$16</c:f>
              <c:numCache>
                <c:formatCode>General</c:formatCode>
                <c:ptCount val="5"/>
                <c:pt idx="0">
                  <c:v>9791</c:v>
                </c:pt>
                <c:pt idx="1">
                  <c:v>9610</c:v>
                </c:pt>
                <c:pt idx="2">
                  <c:v>7534</c:v>
                </c:pt>
                <c:pt idx="3">
                  <c:v>5080</c:v>
                </c:pt>
                <c:pt idx="4">
                  <c:v>4936</c:v>
                </c:pt>
              </c:numCache>
            </c:numRef>
          </c:val>
          <c:smooth val="0"/>
          <c:extLst>
            <c:ext xmlns:c16="http://schemas.microsoft.com/office/drawing/2014/chart" uri="{C3380CC4-5D6E-409C-BE32-E72D297353CC}">
              <c16:uniqueId val="{0000000C-7F5F-40EC-8396-0CBA0C76FAB2}"/>
            </c:ext>
          </c:extLst>
        </c:ser>
        <c:ser>
          <c:idx val="13"/>
          <c:order val="13"/>
          <c:tx>
            <c:strRef>
              <c:f>Sheet4!$A$17</c:f>
              <c:strCache>
                <c:ptCount val="1"/>
                <c:pt idx="0">
                  <c:v>Event Venue 12</c:v>
                </c:pt>
              </c:strCache>
            </c:strRef>
          </c:tx>
          <c:spPr>
            <a:ln w="28575" cap="rnd">
              <a:solidFill>
                <a:schemeClr val="accent2">
                  <a:lumMod val="80000"/>
                  <a:lumOff val="20000"/>
                </a:schemeClr>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Sheet4!$B$17:$F$17</c:f>
              <c:numCache>
                <c:formatCode>General</c:formatCode>
                <c:ptCount val="5"/>
                <c:pt idx="0">
                  <c:v>8034</c:v>
                </c:pt>
                <c:pt idx="1">
                  <c:v>6541</c:v>
                </c:pt>
                <c:pt idx="2">
                  <c:v>3311</c:v>
                </c:pt>
                <c:pt idx="3">
                  <c:v>3254</c:v>
                </c:pt>
                <c:pt idx="4">
                  <c:v>2687</c:v>
                </c:pt>
              </c:numCache>
            </c:numRef>
          </c:val>
          <c:smooth val="0"/>
          <c:extLst>
            <c:ext xmlns:c16="http://schemas.microsoft.com/office/drawing/2014/chart" uri="{C3380CC4-5D6E-409C-BE32-E72D297353CC}">
              <c16:uniqueId val="{0000000D-7F5F-40EC-8396-0CBA0C76FAB2}"/>
            </c:ext>
          </c:extLst>
        </c:ser>
        <c:ser>
          <c:idx val="14"/>
          <c:order val="14"/>
          <c:tx>
            <c:strRef>
              <c:f>Sheet4!$A$18</c:f>
              <c:strCache>
                <c:ptCount val="1"/>
                <c:pt idx="0">
                  <c:v>Event Venue 4</c:v>
                </c:pt>
              </c:strCache>
            </c:strRef>
          </c:tx>
          <c:spPr>
            <a:ln w="28575" cap="rnd">
              <a:solidFill>
                <a:schemeClr val="accent3">
                  <a:lumMod val="80000"/>
                  <a:lumOff val="20000"/>
                </a:schemeClr>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Sheet4!$B$18:$F$18</c:f>
              <c:numCache>
                <c:formatCode>General</c:formatCode>
                <c:ptCount val="5"/>
                <c:pt idx="0">
                  <c:v>8466</c:v>
                </c:pt>
                <c:pt idx="1">
                  <c:v>4079</c:v>
                </c:pt>
                <c:pt idx="2">
                  <c:v>2797</c:v>
                </c:pt>
                <c:pt idx="3">
                  <c:v>2245</c:v>
                </c:pt>
                <c:pt idx="4">
                  <c:v>1696</c:v>
                </c:pt>
              </c:numCache>
            </c:numRef>
          </c:val>
          <c:smooth val="0"/>
          <c:extLst>
            <c:ext xmlns:c16="http://schemas.microsoft.com/office/drawing/2014/chart" uri="{C3380CC4-5D6E-409C-BE32-E72D297353CC}">
              <c16:uniqueId val="{0000000E-7F5F-40EC-8396-0CBA0C76FAB2}"/>
            </c:ext>
          </c:extLst>
        </c:ser>
        <c:ser>
          <c:idx val="15"/>
          <c:order val="15"/>
          <c:tx>
            <c:strRef>
              <c:f>Sheet4!$A$19</c:f>
              <c:strCache>
                <c:ptCount val="1"/>
                <c:pt idx="0">
                  <c:v>Event Venue 1</c:v>
                </c:pt>
              </c:strCache>
            </c:strRef>
          </c:tx>
          <c:spPr>
            <a:ln w="28575" cap="rnd">
              <a:solidFill>
                <a:schemeClr val="accent4">
                  <a:lumMod val="80000"/>
                  <a:lumOff val="20000"/>
                </a:schemeClr>
              </a:solidFill>
              <a:round/>
            </a:ln>
            <a:effectLst/>
          </c:spPr>
          <c:marker>
            <c:symbol val="none"/>
          </c:marker>
          <c:cat>
            <c:numRef>
              <c:f>Sheet4!$B$4:$F$4</c:f>
              <c:numCache>
                <c:formatCode>General</c:formatCode>
                <c:ptCount val="5"/>
                <c:pt idx="0">
                  <c:v>2017</c:v>
                </c:pt>
                <c:pt idx="1">
                  <c:v>2018</c:v>
                </c:pt>
                <c:pt idx="2">
                  <c:v>2019</c:v>
                </c:pt>
                <c:pt idx="3">
                  <c:v>2020</c:v>
                </c:pt>
                <c:pt idx="4">
                  <c:v>2021</c:v>
                </c:pt>
              </c:numCache>
            </c:numRef>
          </c:cat>
          <c:val>
            <c:numRef>
              <c:f>Sheet4!$B$19:$F$19</c:f>
              <c:numCache>
                <c:formatCode>General</c:formatCode>
                <c:ptCount val="5"/>
                <c:pt idx="0">
                  <c:v>8156</c:v>
                </c:pt>
                <c:pt idx="1">
                  <c:v>1245</c:v>
                </c:pt>
                <c:pt idx="2">
                  <c:v>791</c:v>
                </c:pt>
                <c:pt idx="3">
                  <c:v>338</c:v>
                </c:pt>
                <c:pt idx="4">
                  <c:v>44</c:v>
                </c:pt>
              </c:numCache>
            </c:numRef>
          </c:val>
          <c:smooth val="0"/>
          <c:extLst>
            <c:ext xmlns:c16="http://schemas.microsoft.com/office/drawing/2014/chart" uri="{C3380CC4-5D6E-409C-BE32-E72D297353CC}">
              <c16:uniqueId val="{0000000F-7F5F-40EC-8396-0CBA0C76FAB2}"/>
            </c:ext>
          </c:extLst>
        </c:ser>
        <c:dLbls>
          <c:showLegendKey val="0"/>
          <c:showVal val="0"/>
          <c:showCatName val="0"/>
          <c:showSerName val="0"/>
          <c:showPercent val="0"/>
          <c:showBubbleSize val="0"/>
        </c:dLbls>
        <c:smooth val="0"/>
        <c:axId val="598256000"/>
        <c:axId val="598257080"/>
      </c:lineChart>
      <c:catAx>
        <c:axId val="59825600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Year</a:t>
                </a:r>
              </a:p>
            </c:rich>
          </c:tx>
          <c:layout>
            <c:manualLayout>
              <c:xMode val="edge"/>
              <c:yMode val="edge"/>
              <c:x val="0.45256854176696421"/>
              <c:y val="0.5654115354704177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8257080"/>
        <c:crosses val="autoZero"/>
        <c:auto val="1"/>
        <c:lblAlgn val="ctr"/>
        <c:lblOffset val="100"/>
        <c:noMultiLvlLbl val="0"/>
      </c:catAx>
      <c:valAx>
        <c:axId val="59825708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Sales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8256000"/>
        <c:crosses val="autoZero"/>
        <c:crossBetween val="between"/>
      </c:valAx>
      <c:spPr>
        <a:noFill/>
        <a:ln>
          <a:noFill/>
        </a:ln>
        <a:effectLst/>
      </c:spPr>
    </c:plotArea>
    <c:legend>
      <c:legendPos val="b"/>
      <c:layout>
        <c:manualLayout>
          <c:xMode val="edge"/>
          <c:yMode val="edge"/>
          <c:x val="3.0794638338244605E-2"/>
          <c:y val="0.67033470640014359"/>
          <c:w val="0.8934677452064409"/>
          <c:h val="0.2957481220035380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Sales to Restaurant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Sheet5!$A$4</c:f>
              <c:strCache>
                <c:ptCount val="1"/>
                <c:pt idx="0">
                  <c:v>Account Name</c:v>
                </c:pt>
              </c:strCache>
            </c:strRef>
          </c:tx>
          <c:spPr>
            <a:ln w="28575" cap="rnd">
              <a:solidFill>
                <a:schemeClr val="accent1"/>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Sheet5!$B$4:$F$4</c:f>
              <c:numCache>
                <c:formatCode>General</c:formatCode>
                <c:ptCount val="5"/>
                <c:pt idx="0">
                  <c:v>2017</c:v>
                </c:pt>
                <c:pt idx="1">
                  <c:v>2018</c:v>
                </c:pt>
                <c:pt idx="2">
                  <c:v>2019</c:v>
                </c:pt>
                <c:pt idx="3">
                  <c:v>2020</c:v>
                </c:pt>
                <c:pt idx="4">
                  <c:v>2021</c:v>
                </c:pt>
              </c:numCache>
            </c:numRef>
          </c:val>
          <c:smooth val="0"/>
          <c:extLst>
            <c:ext xmlns:c16="http://schemas.microsoft.com/office/drawing/2014/chart" uri="{C3380CC4-5D6E-409C-BE32-E72D297353CC}">
              <c16:uniqueId val="{00000000-4577-4C55-BB1D-40ABF44E31CC}"/>
            </c:ext>
          </c:extLst>
        </c:ser>
        <c:ser>
          <c:idx val="1"/>
          <c:order val="1"/>
          <c:tx>
            <c:strRef>
              <c:f>Sheet5!$A$5</c:f>
              <c:strCache>
                <c:ptCount val="1"/>
                <c:pt idx="0">
                  <c:v>Restaurant 5</c:v>
                </c:pt>
              </c:strCache>
            </c:strRef>
          </c:tx>
          <c:spPr>
            <a:ln w="28575" cap="rnd">
              <a:solidFill>
                <a:schemeClr val="accent2"/>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Sheet5!$B$5:$F$5</c:f>
              <c:numCache>
                <c:formatCode>General</c:formatCode>
                <c:ptCount val="5"/>
                <c:pt idx="0">
                  <c:v>73</c:v>
                </c:pt>
                <c:pt idx="1">
                  <c:v>3485</c:v>
                </c:pt>
                <c:pt idx="2">
                  <c:v>4592</c:v>
                </c:pt>
                <c:pt idx="3">
                  <c:v>5143</c:v>
                </c:pt>
                <c:pt idx="4">
                  <c:v>8100</c:v>
                </c:pt>
              </c:numCache>
            </c:numRef>
          </c:val>
          <c:smooth val="0"/>
          <c:extLst>
            <c:ext xmlns:c16="http://schemas.microsoft.com/office/drawing/2014/chart" uri="{C3380CC4-5D6E-409C-BE32-E72D297353CC}">
              <c16:uniqueId val="{00000001-4577-4C55-BB1D-40ABF44E31CC}"/>
            </c:ext>
          </c:extLst>
        </c:ser>
        <c:ser>
          <c:idx val="2"/>
          <c:order val="2"/>
          <c:tx>
            <c:strRef>
              <c:f>Sheet5!$A$6</c:f>
              <c:strCache>
                <c:ptCount val="1"/>
                <c:pt idx="0">
                  <c:v>Restaurant 12</c:v>
                </c:pt>
              </c:strCache>
            </c:strRef>
          </c:tx>
          <c:spPr>
            <a:ln w="28575" cap="rnd">
              <a:solidFill>
                <a:schemeClr val="accent3"/>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Sheet5!$B$6:$F$6</c:f>
              <c:numCache>
                <c:formatCode>General</c:formatCode>
                <c:ptCount val="5"/>
                <c:pt idx="0">
                  <c:v>209</c:v>
                </c:pt>
                <c:pt idx="1">
                  <c:v>621</c:v>
                </c:pt>
                <c:pt idx="2">
                  <c:v>3098</c:v>
                </c:pt>
                <c:pt idx="3">
                  <c:v>7118</c:v>
                </c:pt>
                <c:pt idx="4">
                  <c:v>8433</c:v>
                </c:pt>
              </c:numCache>
            </c:numRef>
          </c:val>
          <c:smooth val="0"/>
          <c:extLst>
            <c:ext xmlns:c16="http://schemas.microsoft.com/office/drawing/2014/chart" uri="{C3380CC4-5D6E-409C-BE32-E72D297353CC}">
              <c16:uniqueId val="{00000002-4577-4C55-BB1D-40ABF44E31CC}"/>
            </c:ext>
          </c:extLst>
        </c:ser>
        <c:ser>
          <c:idx val="3"/>
          <c:order val="3"/>
          <c:tx>
            <c:strRef>
              <c:f>Sheet5!$A$7</c:f>
              <c:strCache>
                <c:ptCount val="1"/>
                <c:pt idx="0">
                  <c:v>Restaurant 6</c:v>
                </c:pt>
              </c:strCache>
            </c:strRef>
          </c:tx>
          <c:spPr>
            <a:ln w="28575" cap="rnd">
              <a:solidFill>
                <a:schemeClr val="accent4"/>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Sheet5!$B$7:$F$7</c:f>
              <c:numCache>
                <c:formatCode>General</c:formatCode>
                <c:ptCount val="5"/>
                <c:pt idx="0">
                  <c:v>238</c:v>
                </c:pt>
                <c:pt idx="1">
                  <c:v>1235</c:v>
                </c:pt>
                <c:pt idx="2">
                  <c:v>1822</c:v>
                </c:pt>
                <c:pt idx="3">
                  <c:v>7074</c:v>
                </c:pt>
                <c:pt idx="4">
                  <c:v>8207</c:v>
                </c:pt>
              </c:numCache>
            </c:numRef>
          </c:val>
          <c:smooth val="0"/>
          <c:extLst>
            <c:ext xmlns:c16="http://schemas.microsoft.com/office/drawing/2014/chart" uri="{C3380CC4-5D6E-409C-BE32-E72D297353CC}">
              <c16:uniqueId val="{00000003-4577-4C55-BB1D-40ABF44E31CC}"/>
            </c:ext>
          </c:extLst>
        </c:ser>
        <c:ser>
          <c:idx val="4"/>
          <c:order val="4"/>
          <c:tx>
            <c:strRef>
              <c:f>Sheet5!$A$8</c:f>
              <c:strCache>
                <c:ptCount val="1"/>
                <c:pt idx="0">
                  <c:v>Restaurant 10</c:v>
                </c:pt>
              </c:strCache>
            </c:strRef>
          </c:tx>
          <c:spPr>
            <a:ln w="28575" cap="rnd">
              <a:solidFill>
                <a:schemeClr val="accent5"/>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Sheet5!$B$8:$F$8</c:f>
              <c:numCache>
                <c:formatCode>General</c:formatCode>
                <c:ptCount val="5"/>
                <c:pt idx="0">
                  <c:v>570</c:v>
                </c:pt>
                <c:pt idx="1">
                  <c:v>1322</c:v>
                </c:pt>
                <c:pt idx="2">
                  <c:v>7279</c:v>
                </c:pt>
                <c:pt idx="3">
                  <c:v>8443</c:v>
                </c:pt>
                <c:pt idx="4">
                  <c:v>9571</c:v>
                </c:pt>
              </c:numCache>
            </c:numRef>
          </c:val>
          <c:smooth val="0"/>
          <c:extLst>
            <c:ext xmlns:c16="http://schemas.microsoft.com/office/drawing/2014/chart" uri="{C3380CC4-5D6E-409C-BE32-E72D297353CC}">
              <c16:uniqueId val="{00000004-4577-4C55-BB1D-40ABF44E31CC}"/>
            </c:ext>
          </c:extLst>
        </c:ser>
        <c:ser>
          <c:idx val="5"/>
          <c:order val="5"/>
          <c:tx>
            <c:strRef>
              <c:f>Sheet5!$A$9</c:f>
              <c:strCache>
                <c:ptCount val="1"/>
                <c:pt idx="0">
                  <c:v>Restaurant 3</c:v>
                </c:pt>
              </c:strCache>
            </c:strRef>
          </c:tx>
          <c:spPr>
            <a:ln w="28575" cap="rnd">
              <a:solidFill>
                <a:schemeClr val="accent6"/>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Sheet5!$B$9:$F$9</c:f>
              <c:numCache>
                <c:formatCode>General</c:formatCode>
                <c:ptCount val="5"/>
                <c:pt idx="0">
                  <c:v>700</c:v>
                </c:pt>
                <c:pt idx="1">
                  <c:v>5721</c:v>
                </c:pt>
                <c:pt idx="2">
                  <c:v>6247</c:v>
                </c:pt>
                <c:pt idx="3">
                  <c:v>8495</c:v>
                </c:pt>
                <c:pt idx="4">
                  <c:v>9236</c:v>
                </c:pt>
              </c:numCache>
            </c:numRef>
          </c:val>
          <c:smooth val="0"/>
          <c:extLst>
            <c:ext xmlns:c16="http://schemas.microsoft.com/office/drawing/2014/chart" uri="{C3380CC4-5D6E-409C-BE32-E72D297353CC}">
              <c16:uniqueId val="{00000005-4577-4C55-BB1D-40ABF44E31CC}"/>
            </c:ext>
          </c:extLst>
        </c:ser>
        <c:ser>
          <c:idx val="6"/>
          <c:order val="6"/>
          <c:tx>
            <c:strRef>
              <c:f>Sheet5!$A$10</c:f>
              <c:strCache>
                <c:ptCount val="1"/>
                <c:pt idx="0">
                  <c:v>Restaurant 14</c:v>
                </c:pt>
              </c:strCache>
            </c:strRef>
          </c:tx>
          <c:spPr>
            <a:ln w="28575" cap="rnd">
              <a:solidFill>
                <a:schemeClr val="accent1">
                  <a:lumMod val="60000"/>
                </a:schemeClr>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Sheet5!$B$10:$F$10</c:f>
              <c:numCache>
                <c:formatCode>General</c:formatCode>
                <c:ptCount val="5"/>
                <c:pt idx="0">
                  <c:v>712</c:v>
                </c:pt>
                <c:pt idx="1">
                  <c:v>4182</c:v>
                </c:pt>
                <c:pt idx="2">
                  <c:v>6087</c:v>
                </c:pt>
                <c:pt idx="3">
                  <c:v>7494</c:v>
                </c:pt>
                <c:pt idx="4">
                  <c:v>8599</c:v>
                </c:pt>
              </c:numCache>
            </c:numRef>
          </c:val>
          <c:smooth val="0"/>
          <c:extLst>
            <c:ext xmlns:c16="http://schemas.microsoft.com/office/drawing/2014/chart" uri="{C3380CC4-5D6E-409C-BE32-E72D297353CC}">
              <c16:uniqueId val="{00000006-4577-4C55-BB1D-40ABF44E31CC}"/>
            </c:ext>
          </c:extLst>
        </c:ser>
        <c:ser>
          <c:idx val="7"/>
          <c:order val="7"/>
          <c:tx>
            <c:strRef>
              <c:f>Sheet5!$A$11</c:f>
              <c:strCache>
                <c:ptCount val="1"/>
                <c:pt idx="0">
                  <c:v>Restaurant 7</c:v>
                </c:pt>
              </c:strCache>
            </c:strRef>
          </c:tx>
          <c:spPr>
            <a:ln w="28575" cap="rnd">
              <a:solidFill>
                <a:schemeClr val="accent2">
                  <a:lumMod val="60000"/>
                </a:schemeClr>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Sheet5!$B$11:$F$11</c:f>
              <c:numCache>
                <c:formatCode>General</c:formatCode>
                <c:ptCount val="5"/>
                <c:pt idx="0">
                  <c:v>1368</c:v>
                </c:pt>
                <c:pt idx="1">
                  <c:v>3447</c:v>
                </c:pt>
                <c:pt idx="2">
                  <c:v>4535</c:v>
                </c:pt>
                <c:pt idx="3">
                  <c:v>5476</c:v>
                </c:pt>
                <c:pt idx="4">
                  <c:v>9983</c:v>
                </c:pt>
              </c:numCache>
            </c:numRef>
          </c:val>
          <c:smooth val="0"/>
          <c:extLst>
            <c:ext xmlns:c16="http://schemas.microsoft.com/office/drawing/2014/chart" uri="{C3380CC4-5D6E-409C-BE32-E72D297353CC}">
              <c16:uniqueId val="{00000007-4577-4C55-BB1D-40ABF44E31CC}"/>
            </c:ext>
          </c:extLst>
        </c:ser>
        <c:ser>
          <c:idx val="8"/>
          <c:order val="8"/>
          <c:tx>
            <c:strRef>
              <c:f>Sheet5!$A$12</c:f>
              <c:strCache>
                <c:ptCount val="1"/>
                <c:pt idx="0">
                  <c:v>Restaurant 9</c:v>
                </c:pt>
              </c:strCache>
            </c:strRef>
          </c:tx>
          <c:spPr>
            <a:ln w="28575" cap="rnd">
              <a:solidFill>
                <a:schemeClr val="accent3">
                  <a:lumMod val="60000"/>
                </a:schemeClr>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Sheet5!$B$12:$F$12</c:f>
              <c:numCache>
                <c:formatCode>General</c:formatCode>
                <c:ptCount val="5"/>
                <c:pt idx="0">
                  <c:v>1779</c:v>
                </c:pt>
                <c:pt idx="1">
                  <c:v>2124</c:v>
                </c:pt>
                <c:pt idx="2">
                  <c:v>2844</c:v>
                </c:pt>
                <c:pt idx="3">
                  <c:v>6877</c:v>
                </c:pt>
                <c:pt idx="4">
                  <c:v>9570</c:v>
                </c:pt>
              </c:numCache>
            </c:numRef>
          </c:val>
          <c:smooth val="0"/>
          <c:extLst>
            <c:ext xmlns:c16="http://schemas.microsoft.com/office/drawing/2014/chart" uri="{C3380CC4-5D6E-409C-BE32-E72D297353CC}">
              <c16:uniqueId val="{00000008-4577-4C55-BB1D-40ABF44E31CC}"/>
            </c:ext>
          </c:extLst>
        </c:ser>
        <c:ser>
          <c:idx val="9"/>
          <c:order val="9"/>
          <c:tx>
            <c:strRef>
              <c:f>Sheet5!$A$13</c:f>
              <c:strCache>
                <c:ptCount val="1"/>
                <c:pt idx="0">
                  <c:v>Restaurant 1</c:v>
                </c:pt>
              </c:strCache>
            </c:strRef>
          </c:tx>
          <c:spPr>
            <a:ln w="28575" cap="rnd">
              <a:solidFill>
                <a:schemeClr val="accent4">
                  <a:lumMod val="60000"/>
                </a:schemeClr>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Sheet5!$B$13:$F$13</c:f>
              <c:numCache>
                <c:formatCode>General</c:formatCode>
                <c:ptCount val="5"/>
                <c:pt idx="0">
                  <c:v>3501</c:v>
                </c:pt>
                <c:pt idx="1">
                  <c:v>7079</c:v>
                </c:pt>
                <c:pt idx="2">
                  <c:v>7438</c:v>
                </c:pt>
                <c:pt idx="3">
                  <c:v>7443</c:v>
                </c:pt>
                <c:pt idx="4">
                  <c:v>9225</c:v>
                </c:pt>
              </c:numCache>
            </c:numRef>
          </c:val>
          <c:smooth val="0"/>
          <c:extLst>
            <c:ext xmlns:c16="http://schemas.microsoft.com/office/drawing/2014/chart" uri="{C3380CC4-5D6E-409C-BE32-E72D297353CC}">
              <c16:uniqueId val="{00000009-4577-4C55-BB1D-40ABF44E31CC}"/>
            </c:ext>
          </c:extLst>
        </c:ser>
        <c:ser>
          <c:idx val="10"/>
          <c:order val="10"/>
          <c:tx>
            <c:strRef>
              <c:f>Sheet5!$A$14</c:f>
              <c:strCache>
                <c:ptCount val="1"/>
                <c:pt idx="0">
                  <c:v>Restaurant 15</c:v>
                </c:pt>
              </c:strCache>
            </c:strRef>
          </c:tx>
          <c:spPr>
            <a:ln w="28575" cap="rnd">
              <a:solidFill>
                <a:schemeClr val="accent5">
                  <a:lumMod val="60000"/>
                </a:schemeClr>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Sheet5!$B$14:$F$14</c:f>
              <c:numCache>
                <c:formatCode>General</c:formatCode>
                <c:ptCount val="5"/>
                <c:pt idx="0">
                  <c:v>2390</c:v>
                </c:pt>
                <c:pt idx="1">
                  <c:v>2415</c:v>
                </c:pt>
                <c:pt idx="2">
                  <c:v>3461</c:v>
                </c:pt>
                <c:pt idx="3">
                  <c:v>3850</c:v>
                </c:pt>
                <c:pt idx="4">
                  <c:v>4657</c:v>
                </c:pt>
              </c:numCache>
            </c:numRef>
          </c:val>
          <c:smooth val="0"/>
          <c:extLst>
            <c:ext xmlns:c16="http://schemas.microsoft.com/office/drawing/2014/chart" uri="{C3380CC4-5D6E-409C-BE32-E72D297353CC}">
              <c16:uniqueId val="{0000000A-4577-4C55-BB1D-40ABF44E31CC}"/>
            </c:ext>
          </c:extLst>
        </c:ser>
        <c:ser>
          <c:idx val="11"/>
          <c:order val="11"/>
          <c:tx>
            <c:strRef>
              <c:f>Sheet5!$A$15</c:f>
              <c:strCache>
                <c:ptCount val="1"/>
                <c:pt idx="0">
                  <c:v>Restaurant 2</c:v>
                </c:pt>
              </c:strCache>
            </c:strRef>
          </c:tx>
          <c:spPr>
            <a:ln w="28575" cap="rnd">
              <a:solidFill>
                <a:schemeClr val="accent6">
                  <a:lumMod val="60000"/>
                </a:schemeClr>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Sheet5!$B$15:$F$15</c:f>
              <c:numCache>
                <c:formatCode>General</c:formatCode>
                <c:ptCount val="5"/>
                <c:pt idx="0">
                  <c:v>3916</c:v>
                </c:pt>
                <c:pt idx="1">
                  <c:v>4218</c:v>
                </c:pt>
                <c:pt idx="2">
                  <c:v>5072</c:v>
                </c:pt>
                <c:pt idx="3">
                  <c:v>5201</c:v>
                </c:pt>
                <c:pt idx="4">
                  <c:v>7588</c:v>
                </c:pt>
              </c:numCache>
            </c:numRef>
          </c:val>
          <c:smooth val="0"/>
          <c:extLst>
            <c:ext xmlns:c16="http://schemas.microsoft.com/office/drawing/2014/chart" uri="{C3380CC4-5D6E-409C-BE32-E72D297353CC}">
              <c16:uniqueId val="{0000000B-4577-4C55-BB1D-40ABF44E31CC}"/>
            </c:ext>
          </c:extLst>
        </c:ser>
        <c:ser>
          <c:idx val="12"/>
          <c:order val="12"/>
          <c:tx>
            <c:strRef>
              <c:f>Sheet5!$A$16</c:f>
              <c:strCache>
                <c:ptCount val="1"/>
                <c:pt idx="0">
                  <c:v>Restaurant 13</c:v>
                </c:pt>
              </c:strCache>
            </c:strRef>
          </c:tx>
          <c:spPr>
            <a:ln w="28575" cap="rnd">
              <a:solidFill>
                <a:schemeClr val="accent1">
                  <a:lumMod val="80000"/>
                  <a:lumOff val="20000"/>
                </a:schemeClr>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Sheet5!$B$16:$F$16</c:f>
              <c:numCache>
                <c:formatCode>General</c:formatCode>
                <c:ptCount val="5"/>
                <c:pt idx="0">
                  <c:v>6309</c:v>
                </c:pt>
                <c:pt idx="1">
                  <c:v>6227</c:v>
                </c:pt>
                <c:pt idx="2">
                  <c:v>5123</c:v>
                </c:pt>
                <c:pt idx="3">
                  <c:v>4968</c:v>
                </c:pt>
                <c:pt idx="4">
                  <c:v>3857</c:v>
                </c:pt>
              </c:numCache>
            </c:numRef>
          </c:val>
          <c:smooth val="0"/>
          <c:extLst>
            <c:ext xmlns:c16="http://schemas.microsoft.com/office/drawing/2014/chart" uri="{C3380CC4-5D6E-409C-BE32-E72D297353CC}">
              <c16:uniqueId val="{0000000C-4577-4C55-BB1D-40ABF44E31CC}"/>
            </c:ext>
          </c:extLst>
        </c:ser>
        <c:ser>
          <c:idx val="13"/>
          <c:order val="13"/>
          <c:tx>
            <c:strRef>
              <c:f>Sheet5!$A$17</c:f>
              <c:strCache>
                <c:ptCount val="1"/>
                <c:pt idx="0">
                  <c:v>Restaurant 4</c:v>
                </c:pt>
              </c:strCache>
            </c:strRef>
          </c:tx>
          <c:spPr>
            <a:ln w="28575" cap="rnd">
              <a:solidFill>
                <a:schemeClr val="accent2">
                  <a:lumMod val="80000"/>
                  <a:lumOff val="20000"/>
                </a:schemeClr>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Sheet5!$B$17:$F$17</c:f>
              <c:numCache>
                <c:formatCode>General</c:formatCode>
                <c:ptCount val="5"/>
                <c:pt idx="0">
                  <c:v>9773</c:v>
                </c:pt>
                <c:pt idx="1">
                  <c:v>9179</c:v>
                </c:pt>
                <c:pt idx="2">
                  <c:v>8390</c:v>
                </c:pt>
                <c:pt idx="3">
                  <c:v>8256</c:v>
                </c:pt>
                <c:pt idx="4">
                  <c:v>3815</c:v>
                </c:pt>
              </c:numCache>
            </c:numRef>
          </c:val>
          <c:smooth val="0"/>
          <c:extLst>
            <c:ext xmlns:c16="http://schemas.microsoft.com/office/drawing/2014/chart" uri="{C3380CC4-5D6E-409C-BE32-E72D297353CC}">
              <c16:uniqueId val="{0000000D-4577-4C55-BB1D-40ABF44E31CC}"/>
            </c:ext>
          </c:extLst>
        </c:ser>
        <c:ser>
          <c:idx val="14"/>
          <c:order val="14"/>
          <c:tx>
            <c:strRef>
              <c:f>Sheet5!$A$18</c:f>
              <c:strCache>
                <c:ptCount val="1"/>
                <c:pt idx="0">
                  <c:v>Restaurant 11</c:v>
                </c:pt>
              </c:strCache>
            </c:strRef>
          </c:tx>
          <c:spPr>
            <a:ln w="28575" cap="rnd">
              <a:solidFill>
                <a:schemeClr val="accent3">
                  <a:lumMod val="80000"/>
                  <a:lumOff val="20000"/>
                </a:schemeClr>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Sheet5!$B$18:$F$18</c:f>
              <c:numCache>
                <c:formatCode>General</c:formatCode>
                <c:ptCount val="5"/>
                <c:pt idx="0">
                  <c:v>6156</c:v>
                </c:pt>
                <c:pt idx="1">
                  <c:v>6110</c:v>
                </c:pt>
                <c:pt idx="2">
                  <c:v>5791</c:v>
                </c:pt>
                <c:pt idx="3">
                  <c:v>1759</c:v>
                </c:pt>
                <c:pt idx="4">
                  <c:v>969</c:v>
                </c:pt>
              </c:numCache>
            </c:numRef>
          </c:val>
          <c:smooth val="0"/>
          <c:extLst>
            <c:ext xmlns:c16="http://schemas.microsoft.com/office/drawing/2014/chart" uri="{C3380CC4-5D6E-409C-BE32-E72D297353CC}">
              <c16:uniqueId val="{0000000E-4577-4C55-BB1D-40ABF44E31CC}"/>
            </c:ext>
          </c:extLst>
        </c:ser>
        <c:ser>
          <c:idx val="15"/>
          <c:order val="15"/>
          <c:tx>
            <c:strRef>
              <c:f>Sheet5!$A$19</c:f>
              <c:strCache>
                <c:ptCount val="1"/>
                <c:pt idx="0">
                  <c:v>Restaurant 8</c:v>
                </c:pt>
              </c:strCache>
            </c:strRef>
          </c:tx>
          <c:spPr>
            <a:ln w="28575" cap="rnd">
              <a:solidFill>
                <a:schemeClr val="accent4">
                  <a:lumMod val="80000"/>
                  <a:lumOff val="20000"/>
                </a:schemeClr>
              </a:solidFill>
              <a:round/>
            </a:ln>
            <a:effectLst/>
          </c:spPr>
          <c:marker>
            <c:symbol val="none"/>
          </c:marker>
          <c:cat>
            <c:numRef>
              <c:f>Sheet5!$B$4:$F$4</c:f>
              <c:numCache>
                <c:formatCode>General</c:formatCode>
                <c:ptCount val="5"/>
                <c:pt idx="0">
                  <c:v>2017</c:v>
                </c:pt>
                <c:pt idx="1">
                  <c:v>2018</c:v>
                </c:pt>
                <c:pt idx="2">
                  <c:v>2019</c:v>
                </c:pt>
                <c:pt idx="3">
                  <c:v>2020</c:v>
                </c:pt>
                <c:pt idx="4">
                  <c:v>2021</c:v>
                </c:pt>
              </c:numCache>
            </c:numRef>
          </c:cat>
          <c:val>
            <c:numRef>
              <c:f>Sheet5!$B$19:$F$19</c:f>
              <c:numCache>
                <c:formatCode>General</c:formatCode>
                <c:ptCount val="5"/>
                <c:pt idx="0">
                  <c:v>8331</c:v>
                </c:pt>
                <c:pt idx="1">
                  <c:v>7667</c:v>
                </c:pt>
                <c:pt idx="2">
                  <c:v>5952</c:v>
                </c:pt>
                <c:pt idx="3">
                  <c:v>1998</c:v>
                </c:pt>
                <c:pt idx="4">
                  <c:v>375</c:v>
                </c:pt>
              </c:numCache>
            </c:numRef>
          </c:val>
          <c:smooth val="0"/>
          <c:extLst>
            <c:ext xmlns:c16="http://schemas.microsoft.com/office/drawing/2014/chart" uri="{C3380CC4-5D6E-409C-BE32-E72D297353CC}">
              <c16:uniqueId val="{0000000F-4577-4C55-BB1D-40ABF44E31CC}"/>
            </c:ext>
          </c:extLst>
        </c:ser>
        <c:dLbls>
          <c:showLegendKey val="0"/>
          <c:showVal val="0"/>
          <c:showCatName val="0"/>
          <c:showSerName val="0"/>
          <c:showPercent val="0"/>
          <c:showBubbleSize val="0"/>
        </c:dLbls>
        <c:smooth val="0"/>
        <c:axId val="346314168"/>
        <c:axId val="598256720"/>
      </c:lineChart>
      <c:catAx>
        <c:axId val="3463141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Year</a:t>
                </a:r>
              </a:p>
            </c:rich>
          </c:tx>
          <c:layout>
            <c:manualLayout>
              <c:xMode val="edge"/>
              <c:yMode val="edge"/>
              <c:x val="0.47700042026468753"/>
              <c:y val="0.629273266096551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8256720"/>
        <c:crosses val="autoZero"/>
        <c:auto val="1"/>
        <c:lblAlgn val="ctr"/>
        <c:lblOffset val="100"/>
        <c:noMultiLvlLbl val="0"/>
      </c:catAx>
      <c:valAx>
        <c:axId val="5982567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Sales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63141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5602559055118109"/>
          <c:y val="5.0925925925925923E-2"/>
          <c:w val="0.81341885389326329"/>
          <c:h val="0.74350320793234181"/>
        </c:manualLayout>
      </c:layout>
      <c:barChart>
        <c:barDir val="col"/>
        <c:grouping val="clustered"/>
        <c:varyColors val="0"/>
        <c:ser>
          <c:idx val="0"/>
          <c:order val="0"/>
          <c:tx>
            <c:strRef>
              <c:f>Sheet7!$G$3</c:f>
              <c:strCache>
                <c:ptCount val="1"/>
                <c:pt idx="0">
                  <c:v>Sales Growth </c:v>
                </c:pt>
              </c:strCache>
            </c:strRef>
          </c:tx>
          <c:spPr>
            <a:solidFill>
              <a:srgbClr val="0070C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Sheet7!$I$4:$I$7</c:f>
              <c:strCache>
                <c:ptCount val="4"/>
                <c:pt idx="0">
                  <c:v>Bar</c:v>
                </c:pt>
                <c:pt idx="1">
                  <c:v>Club</c:v>
                </c:pt>
                <c:pt idx="2">
                  <c:v>Hotel</c:v>
                </c:pt>
                <c:pt idx="3">
                  <c:v>Restaurant</c:v>
                </c:pt>
              </c:strCache>
            </c:strRef>
          </c:cat>
          <c:val>
            <c:numRef>
              <c:f>Sheet7!$G$4:$G$7</c:f>
              <c:numCache>
                <c:formatCode>0%</c:formatCode>
                <c:ptCount val="4"/>
                <c:pt idx="0">
                  <c:v>0.81736931511080224</c:v>
                </c:pt>
                <c:pt idx="1">
                  <c:v>1.375632154721852</c:v>
                </c:pt>
                <c:pt idx="2">
                  <c:v>1.2409552664409196</c:v>
                </c:pt>
                <c:pt idx="3">
                  <c:v>1.2202064095600218</c:v>
                </c:pt>
              </c:numCache>
            </c:numRef>
          </c:val>
          <c:extLst>
            <c:ext xmlns:c16="http://schemas.microsoft.com/office/drawing/2014/chart" uri="{C3380CC4-5D6E-409C-BE32-E72D297353CC}">
              <c16:uniqueId val="{00000000-47E6-488D-99A3-34F3678CC3A6}"/>
            </c:ext>
          </c:extLst>
        </c:ser>
        <c:ser>
          <c:idx val="2"/>
          <c:order val="2"/>
          <c:tx>
            <c:strRef>
              <c:f>Sheet7!$I$3</c:f>
              <c:strCache>
                <c:ptCount val="1"/>
                <c:pt idx="0">
                  <c:v>Account Type</c:v>
                </c:pt>
              </c:strCache>
            </c:strRef>
          </c:tx>
          <c:spPr>
            <a:solidFill>
              <a:schemeClr val="accent3"/>
            </a:solidFill>
            <a:ln>
              <a:noFill/>
            </a:ln>
            <a:effectLst/>
          </c:spPr>
          <c:invertIfNegative val="0"/>
          <c:dLbls>
            <c:delete val="1"/>
          </c:dLbls>
          <c:cat>
            <c:strRef>
              <c:f>Sheet7!$I$4:$I$7</c:f>
              <c:strCache>
                <c:ptCount val="4"/>
                <c:pt idx="0">
                  <c:v>Bar</c:v>
                </c:pt>
                <c:pt idx="1">
                  <c:v>Club</c:v>
                </c:pt>
                <c:pt idx="2">
                  <c:v>Hotel</c:v>
                </c:pt>
                <c:pt idx="3">
                  <c:v>Restaurant</c:v>
                </c:pt>
              </c:strCache>
            </c:strRef>
          </c:cat>
          <c:val>
            <c:numRef>
              <c:f>Sheet7!$I$4:$I$7</c:f>
              <c:numCache>
                <c:formatCode>General</c:formatCode>
                <c:ptCount val="4"/>
                <c:pt idx="0">
                  <c:v>0</c:v>
                </c:pt>
                <c:pt idx="1">
                  <c:v>0</c:v>
                </c:pt>
                <c:pt idx="2">
                  <c:v>0</c:v>
                </c:pt>
                <c:pt idx="3">
                  <c:v>0</c:v>
                </c:pt>
              </c:numCache>
            </c:numRef>
          </c:val>
          <c:extLst>
            <c:ext xmlns:c16="http://schemas.microsoft.com/office/drawing/2014/chart" uri="{C3380CC4-5D6E-409C-BE32-E72D297353CC}">
              <c16:uniqueId val="{00000001-47E6-488D-99A3-34F3678CC3A6}"/>
            </c:ext>
          </c:extLst>
        </c:ser>
        <c:dLbls>
          <c:dLblPos val="outEnd"/>
          <c:showLegendKey val="0"/>
          <c:showVal val="1"/>
          <c:showCatName val="0"/>
          <c:showSerName val="0"/>
          <c:showPercent val="0"/>
          <c:showBubbleSize val="0"/>
        </c:dLbls>
        <c:gapWidth val="219"/>
        <c:overlap val="-27"/>
        <c:axId val="778748784"/>
        <c:axId val="778751664"/>
        <c:extLst>
          <c:ext xmlns:c15="http://schemas.microsoft.com/office/drawing/2012/chart" uri="{02D57815-91ED-43cb-92C2-25804820EDAC}">
            <c15:filteredBarSeries>
              <c15:ser>
                <c:idx val="1"/>
                <c:order val="1"/>
                <c:tx>
                  <c:strRef>
                    <c:extLst>
                      <c:ext uri="{02D57815-91ED-43cb-92C2-25804820EDAC}">
                        <c15:formulaRef>
                          <c15:sqref>Sheet7!$H$3</c15:sqref>
                        </c15:formulaRef>
                      </c:ext>
                    </c:extLst>
                    <c:strCache>
                      <c:ptCount val="1"/>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Sheet7!$I$4:$I$7</c15:sqref>
                        </c15:formulaRef>
                      </c:ext>
                    </c:extLst>
                    <c:strCache>
                      <c:ptCount val="4"/>
                      <c:pt idx="0">
                        <c:v>Bar</c:v>
                      </c:pt>
                      <c:pt idx="1">
                        <c:v>Club</c:v>
                      </c:pt>
                      <c:pt idx="2">
                        <c:v>Hotel</c:v>
                      </c:pt>
                      <c:pt idx="3">
                        <c:v>Restaurant</c:v>
                      </c:pt>
                    </c:strCache>
                  </c:strRef>
                </c:cat>
                <c:val>
                  <c:numRef>
                    <c:extLst>
                      <c:ext uri="{02D57815-91ED-43cb-92C2-25804820EDAC}">
                        <c15:formulaRef>
                          <c15:sqref>Sheet7!$H$4:$H$7</c15:sqref>
                        </c15:formulaRef>
                      </c:ext>
                    </c:extLst>
                    <c:numCache>
                      <c:formatCode>General</c:formatCode>
                      <c:ptCount val="4"/>
                    </c:numCache>
                  </c:numRef>
                </c:val>
                <c:extLst>
                  <c:ext xmlns:c16="http://schemas.microsoft.com/office/drawing/2014/chart" uri="{C3380CC4-5D6E-409C-BE32-E72D297353CC}">
                    <c16:uniqueId val="{00000002-47E6-488D-99A3-34F3678CC3A6}"/>
                  </c:ext>
                </c:extLst>
              </c15:ser>
            </c15:filteredBarSeries>
          </c:ext>
        </c:extLst>
      </c:barChart>
      <c:catAx>
        <c:axId val="77874878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1" i="0" u="none" strike="noStrike" baseline="0">
                    <a:effectLst/>
                  </a:rPr>
                  <a:t>Account Type</a:t>
                </a:r>
                <a:r>
                  <a:rPr lang="en-US" sz="1000" b="0" i="0" u="none" strike="noStrike" baseline="0">
                    <a:effectLst/>
                  </a:rPr>
                  <a:t> </a:t>
                </a: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78751664"/>
        <c:crosses val="autoZero"/>
        <c:auto val="1"/>
        <c:lblAlgn val="ctr"/>
        <c:lblOffset val="100"/>
        <c:noMultiLvlLbl val="0"/>
      </c:catAx>
      <c:valAx>
        <c:axId val="77875166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baseline="0">
                    <a:effectLst/>
                  </a:rPr>
                  <a:t>Sales Growth  </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78748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[Account Sales Data for Analysis v2 (Recovered).xlsx]Sheet7!PivotTable1</c:name>
    <c:fmtId val="27"/>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5729362511148071"/>
          <c:y val="5.1389778463231742E-2"/>
          <c:w val="0.64641804209752451"/>
          <c:h val="0.8121518617088922"/>
        </c:manualLayout>
      </c:layout>
      <c:barChart>
        <c:barDir val="col"/>
        <c:grouping val="clustered"/>
        <c:varyColors val="0"/>
        <c:ser>
          <c:idx val="0"/>
          <c:order val="0"/>
          <c:tx>
            <c:strRef>
              <c:f>Sheet7!$B$3</c:f>
              <c:strCache>
                <c:ptCount val="1"/>
                <c:pt idx="0">
                  <c:v>Sum of 2017</c:v>
                </c:pt>
              </c:strCache>
            </c:strRef>
          </c:tx>
          <c:spPr>
            <a:solidFill>
              <a:schemeClr val="accent1"/>
            </a:solidFill>
            <a:ln>
              <a:noFill/>
            </a:ln>
            <a:effectLst/>
          </c:spPr>
          <c:invertIfNegative val="0"/>
          <c:cat>
            <c:strRef>
              <c:f>Sheet7!$A$4:$A$8</c:f>
              <c:strCache>
                <c:ptCount val="4"/>
                <c:pt idx="0">
                  <c:v>Bar</c:v>
                </c:pt>
                <c:pt idx="1">
                  <c:v>Club</c:v>
                </c:pt>
                <c:pt idx="2">
                  <c:v>Hotel</c:v>
                </c:pt>
                <c:pt idx="3">
                  <c:v>Restaurant</c:v>
                </c:pt>
              </c:strCache>
            </c:strRef>
          </c:cat>
          <c:val>
            <c:numRef>
              <c:f>Sheet7!$B$4:$B$8</c:f>
              <c:numCache>
                <c:formatCode>General</c:formatCode>
                <c:ptCount val="4"/>
                <c:pt idx="0">
                  <c:v>51804</c:v>
                </c:pt>
                <c:pt idx="1">
                  <c:v>47259</c:v>
                </c:pt>
                <c:pt idx="2">
                  <c:v>44888</c:v>
                </c:pt>
                <c:pt idx="3">
                  <c:v>46025</c:v>
                </c:pt>
              </c:numCache>
            </c:numRef>
          </c:val>
          <c:extLst>
            <c:ext xmlns:c16="http://schemas.microsoft.com/office/drawing/2014/chart" uri="{C3380CC4-5D6E-409C-BE32-E72D297353CC}">
              <c16:uniqueId val="{0000000B-9024-4728-8840-3424172618C9}"/>
            </c:ext>
          </c:extLst>
        </c:ser>
        <c:ser>
          <c:idx val="1"/>
          <c:order val="1"/>
          <c:tx>
            <c:strRef>
              <c:f>Sheet7!$C$3</c:f>
              <c:strCache>
                <c:ptCount val="1"/>
                <c:pt idx="0">
                  <c:v>Sum of 2018</c:v>
                </c:pt>
              </c:strCache>
            </c:strRef>
          </c:tx>
          <c:spPr>
            <a:solidFill>
              <a:schemeClr val="accent2"/>
            </a:solidFill>
            <a:ln>
              <a:noFill/>
            </a:ln>
            <a:effectLst/>
          </c:spPr>
          <c:invertIfNegative val="0"/>
          <c:cat>
            <c:strRef>
              <c:f>Sheet7!$A$4:$A$8</c:f>
              <c:strCache>
                <c:ptCount val="4"/>
                <c:pt idx="0">
                  <c:v>Bar</c:v>
                </c:pt>
                <c:pt idx="1">
                  <c:v>Club</c:v>
                </c:pt>
                <c:pt idx="2">
                  <c:v>Hotel</c:v>
                </c:pt>
                <c:pt idx="3">
                  <c:v>Restaurant</c:v>
                </c:pt>
              </c:strCache>
            </c:strRef>
          </c:cat>
          <c:val>
            <c:numRef>
              <c:f>Sheet7!$C$4:$C$8</c:f>
              <c:numCache>
                <c:formatCode>General</c:formatCode>
                <c:ptCount val="4"/>
                <c:pt idx="0">
                  <c:v>60121</c:v>
                </c:pt>
                <c:pt idx="1">
                  <c:v>67275</c:v>
                </c:pt>
                <c:pt idx="2">
                  <c:v>50567</c:v>
                </c:pt>
                <c:pt idx="3">
                  <c:v>65032</c:v>
                </c:pt>
              </c:numCache>
            </c:numRef>
          </c:val>
          <c:extLst>
            <c:ext xmlns:c16="http://schemas.microsoft.com/office/drawing/2014/chart" uri="{C3380CC4-5D6E-409C-BE32-E72D297353CC}">
              <c16:uniqueId val="{0000000C-9024-4728-8840-3424172618C9}"/>
            </c:ext>
          </c:extLst>
        </c:ser>
        <c:ser>
          <c:idx val="2"/>
          <c:order val="2"/>
          <c:tx>
            <c:strRef>
              <c:f>Sheet7!$D$3</c:f>
              <c:strCache>
                <c:ptCount val="1"/>
                <c:pt idx="0">
                  <c:v>Sum of 2019</c:v>
                </c:pt>
              </c:strCache>
            </c:strRef>
          </c:tx>
          <c:spPr>
            <a:solidFill>
              <a:schemeClr val="accent3"/>
            </a:solidFill>
            <a:ln>
              <a:noFill/>
            </a:ln>
            <a:effectLst/>
          </c:spPr>
          <c:invertIfNegative val="0"/>
          <c:cat>
            <c:strRef>
              <c:f>Sheet7!$A$4:$A$8</c:f>
              <c:strCache>
                <c:ptCount val="4"/>
                <c:pt idx="0">
                  <c:v>Bar</c:v>
                </c:pt>
                <c:pt idx="1">
                  <c:v>Club</c:v>
                </c:pt>
                <c:pt idx="2">
                  <c:v>Hotel</c:v>
                </c:pt>
                <c:pt idx="3">
                  <c:v>Restaurant</c:v>
                </c:pt>
              </c:strCache>
            </c:strRef>
          </c:cat>
          <c:val>
            <c:numRef>
              <c:f>Sheet7!$D$4:$D$8</c:f>
              <c:numCache>
                <c:formatCode>General</c:formatCode>
                <c:ptCount val="4"/>
                <c:pt idx="0">
                  <c:v>60760</c:v>
                </c:pt>
                <c:pt idx="1">
                  <c:v>79646</c:v>
                </c:pt>
                <c:pt idx="2">
                  <c:v>70312</c:v>
                </c:pt>
                <c:pt idx="3">
                  <c:v>77731</c:v>
                </c:pt>
              </c:numCache>
            </c:numRef>
          </c:val>
          <c:extLst>
            <c:ext xmlns:c16="http://schemas.microsoft.com/office/drawing/2014/chart" uri="{C3380CC4-5D6E-409C-BE32-E72D297353CC}">
              <c16:uniqueId val="{0000000D-9024-4728-8840-3424172618C9}"/>
            </c:ext>
          </c:extLst>
        </c:ser>
        <c:ser>
          <c:idx val="3"/>
          <c:order val="3"/>
          <c:tx>
            <c:strRef>
              <c:f>Sheet7!$E$3</c:f>
              <c:strCache>
                <c:ptCount val="1"/>
                <c:pt idx="0">
                  <c:v>Sum of 2020</c:v>
                </c:pt>
              </c:strCache>
            </c:strRef>
          </c:tx>
          <c:spPr>
            <a:solidFill>
              <a:schemeClr val="accent4"/>
            </a:solidFill>
            <a:ln>
              <a:noFill/>
            </a:ln>
            <a:effectLst/>
          </c:spPr>
          <c:invertIfNegative val="0"/>
          <c:cat>
            <c:strRef>
              <c:f>Sheet7!$A$4:$A$8</c:f>
              <c:strCache>
                <c:ptCount val="4"/>
                <c:pt idx="0">
                  <c:v>Bar</c:v>
                </c:pt>
                <c:pt idx="1">
                  <c:v>Club</c:v>
                </c:pt>
                <c:pt idx="2">
                  <c:v>Hotel</c:v>
                </c:pt>
                <c:pt idx="3">
                  <c:v>Restaurant</c:v>
                </c:pt>
              </c:strCache>
            </c:strRef>
          </c:cat>
          <c:val>
            <c:numRef>
              <c:f>Sheet7!$E$4:$E$8</c:f>
              <c:numCache>
                <c:formatCode>General</c:formatCode>
                <c:ptCount val="4"/>
                <c:pt idx="0">
                  <c:v>75991</c:v>
                </c:pt>
                <c:pt idx="1">
                  <c:v>102065</c:v>
                </c:pt>
                <c:pt idx="2">
                  <c:v>82583</c:v>
                </c:pt>
                <c:pt idx="3">
                  <c:v>89595</c:v>
                </c:pt>
              </c:numCache>
            </c:numRef>
          </c:val>
          <c:extLst>
            <c:ext xmlns:c16="http://schemas.microsoft.com/office/drawing/2014/chart" uri="{C3380CC4-5D6E-409C-BE32-E72D297353CC}">
              <c16:uniqueId val="{0000000E-9024-4728-8840-3424172618C9}"/>
            </c:ext>
          </c:extLst>
        </c:ser>
        <c:ser>
          <c:idx val="4"/>
          <c:order val="4"/>
          <c:tx>
            <c:strRef>
              <c:f>Sheet7!$F$3</c:f>
              <c:strCache>
                <c:ptCount val="1"/>
                <c:pt idx="0">
                  <c:v>Sum of 2021</c:v>
                </c:pt>
              </c:strCache>
            </c:strRef>
          </c:tx>
          <c:spPr>
            <a:solidFill>
              <a:schemeClr val="accent5"/>
            </a:solidFill>
            <a:ln>
              <a:noFill/>
            </a:ln>
            <a:effectLst/>
          </c:spPr>
          <c:invertIfNegative val="0"/>
          <c:cat>
            <c:strRef>
              <c:f>Sheet7!$A$4:$A$8</c:f>
              <c:strCache>
                <c:ptCount val="4"/>
                <c:pt idx="0">
                  <c:v>Bar</c:v>
                </c:pt>
                <c:pt idx="1">
                  <c:v>Club</c:v>
                </c:pt>
                <c:pt idx="2">
                  <c:v>Hotel</c:v>
                </c:pt>
                <c:pt idx="3">
                  <c:v>Restaurant</c:v>
                </c:pt>
              </c:strCache>
            </c:strRef>
          </c:cat>
          <c:val>
            <c:numRef>
              <c:f>Sheet7!$F$4:$F$8</c:f>
              <c:numCache>
                <c:formatCode>General</c:formatCode>
                <c:ptCount val="4"/>
                <c:pt idx="0">
                  <c:v>94147</c:v>
                </c:pt>
                <c:pt idx="1">
                  <c:v>112270</c:v>
                </c:pt>
                <c:pt idx="2">
                  <c:v>100592</c:v>
                </c:pt>
                <c:pt idx="3">
                  <c:v>102185</c:v>
                </c:pt>
              </c:numCache>
            </c:numRef>
          </c:val>
          <c:extLst>
            <c:ext xmlns:c16="http://schemas.microsoft.com/office/drawing/2014/chart" uri="{C3380CC4-5D6E-409C-BE32-E72D297353CC}">
              <c16:uniqueId val="{0000000F-9024-4728-8840-3424172618C9}"/>
            </c:ext>
          </c:extLst>
        </c:ser>
        <c:dLbls>
          <c:showLegendKey val="0"/>
          <c:showVal val="0"/>
          <c:showCatName val="0"/>
          <c:showSerName val="0"/>
          <c:showPercent val="0"/>
          <c:showBubbleSize val="0"/>
        </c:dLbls>
        <c:gapWidth val="219"/>
        <c:overlap val="-27"/>
        <c:axId val="625208024"/>
        <c:axId val="625208384"/>
      </c:barChart>
      <c:catAx>
        <c:axId val="62520802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800" b="0" i="0" u="none" strike="noStrike" kern="1200" baseline="0" dirty="0">
                    <a:solidFill>
                      <a:prstClr val="black">
                        <a:lumMod val="65000"/>
                        <a:lumOff val="35000"/>
                      </a:prstClr>
                    </a:solidFill>
                  </a:rPr>
                  <a:t>Account Type </a:t>
                </a:r>
                <a:endParaRPr lang="en-US"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5208384"/>
        <c:crosses val="autoZero"/>
        <c:auto val="1"/>
        <c:lblAlgn val="ctr"/>
        <c:lblOffset val="100"/>
        <c:noMultiLvlLbl val="0"/>
      </c:catAx>
      <c:valAx>
        <c:axId val="6252083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Total</a:t>
                </a:r>
                <a:r>
                  <a:rPr lang="en-US" baseline="0" dirty="0"/>
                  <a:t> Sales </a:t>
                </a:r>
                <a:endParaRPr lang="en-US"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520802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38727034120735"/>
          <c:y val="0.10648148148148148"/>
          <c:w val="0.79668285214348211"/>
          <c:h val="0.64324803149606302"/>
        </c:manualLayout>
      </c:layout>
      <c:barChart>
        <c:barDir val="col"/>
        <c:grouping val="clustered"/>
        <c:varyColors val="0"/>
        <c:ser>
          <c:idx val="0"/>
          <c:order val="0"/>
          <c:spPr>
            <a:gradFill rotWithShape="1">
              <a:gsLst>
                <a:gs pos="0">
                  <a:srgbClr val="00B0F0"/>
                </a:gs>
                <a:gs pos="42000">
                  <a:srgbClr val="002060"/>
                </a:gs>
                <a:gs pos="100000">
                  <a:srgbClr val="7030A0"/>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Sheet6!$L$21:$P$21</c:f>
              <c:strCache>
                <c:ptCount val="5"/>
                <c:pt idx="0">
                  <c:v> 2017</c:v>
                </c:pt>
                <c:pt idx="1">
                  <c:v> 2018</c:v>
                </c:pt>
                <c:pt idx="2">
                  <c:v> 2019</c:v>
                </c:pt>
                <c:pt idx="3">
                  <c:v> 2020</c:v>
                </c:pt>
                <c:pt idx="4">
                  <c:v> 2021</c:v>
                </c:pt>
              </c:strCache>
            </c:strRef>
          </c:cat>
          <c:val>
            <c:numRef>
              <c:f>Sheet6!$L$22:$P$22</c:f>
              <c:numCache>
                <c:formatCode>General</c:formatCode>
                <c:ptCount val="5"/>
                <c:pt idx="0">
                  <c:v>189976</c:v>
                </c:pt>
                <c:pt idx="1">
                  <c:v>242995</c:v>
                </c:pt>
                <c:pt idx="2">
                  <c:v>288449</c:v>
                </c:pt>
                <c:pt idx="3">
                  <c:v>350234</c:v>
                </c:pt>
                <c:pt idx="4">
                  <c:v>409194</c:v>
                </c:pt>
              </c:numCache>
            </c:numRef>
          </c:val>
          <c:extLst>
            <c:ext xmlns:c16="http://schemas.microsoft.com/office/drawing/2014/chart" uri="{C3380CC4-5D6E-409C-BE32-E72D297353CC}">
              <c16:uniqueId val="{00000000-EA0B-484F-850F-6E659CDB54CE}"/>
            </c:ext>
          </c:extLst>
        </c:ser>
        <c:dLbls>
          <c:showLegendKey val="0"/>
          <c:showVal val="1"/>
          <c:showCatName val="0"/>
          <c:showSerName val="0"/>
          <c:showPercent val="0"/>
          <c:showBubbleSize val="0"/>
        </c:dLbls>
        <c:gapWidth val="247"/>
        <c:axId val="453401688"/>
        <c:axId val="453402048"/>
      </c:barChart>
      <c:lineChart>
        <c:grouping val="standard"/>
        <c:varyColors val="0"/>
        <c:ser>
          <c:idx val="1"/>
          <c:order val="1"/>
          <c:spPr>
            <a:ln w="31750" cap="rnd">
              <a:solidFill>
                <a:srgbClr val="92D050"/>
              </a:solidFill>
              <a:round/>
            </a:ln>
            <a:effectLst/>
          </c:spPr>
          <c:marker>
            <c:symbol val="none"/>
          </c:marker>
          <c:dLbls>
            <c:delete val="1"/>
          </c:dLbls>
          <c:cat>
            <c:strRef>
              <c:f>Sheet6!$L$21:$P$21</c:f>
              <c:strCache>
                <c:ptCount val="5"/>
                <c:pt idx="0">
                  <c:v> 2017</c:v>
                </c:pt>
                <c:pt idx="1">
                  <c:v> 2018</c:v>
                </c:pt>
                <c:pt idx="2">
                  <c:v> 2019</c:v>
                </c:pt>
                <c:pt idx="3">
                  <c:v> 2020</c:v>
                </c:pt>
                <c:pt idx="4">
                  <c:v> 2021</c:v>
                </c:pt>
              </c:strCache>
            </c:strRef>
          </c:cat>
          <c:val>
            <c:numRef>
              <c:f>Sheet6!$L$23:$P$23</c:f>
              <c:numCache>
                <c:formatCode>General</c:formatCode>
                <c:ptCount val="5"/>
                <c:pt idx="0">
                  <c:v>189976</c:v>
                </c:pt>
                <c:pt idx="1">
                  <c:v>242995</c:v>
                </c:pt>
                <c:pt idx="2">
                  <c:v>288449</c:v>
                </c:pt>
                <c:pt idx="3">
                  <c:v>350234</c:v>
                </c:pt>
                <c:pt idx="4">
                  <c:v>409194</c:v>
                </c:pt>
              </c:numCache>
            </c:numRef>
          </c:val>
          <c:smooth val="0"/>
          <c:extLst>
            <c:ext xmlns:c16="http://schemas.microsoft.com/office/drawing/2014/chart" uri="{C3380CC4-5D6E-409C-BE32-E72D297353CC}">
              <c16:uniqueId val="{00000001-EA0B-484F-850F-6E659CDB54CE}"/>
            </c:ext>
          </c:extLst>
        </c:ser>
        <c:dLbls>
          <c:showLegendKey val="0"/>
          <c:showVal val="1"/>
          <c:showCatName val="0"/>
          <c:showSerName val="0"/>
          <c:showPercent val="0"/>
          <c:showBubbleSize val="0"/>
        </c:dLbls>
        <c:marker val="1"/>
        <c:smooth val="0"/>
        <c:axId val="453401688"/>
        <c:axId val="453402048"/>
      </c:lineChart>
      <c:catAx>
        <c:axId val="453401688"/>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tx2"/>
                    </a:solidFill>
                    <a:latin typeface="+mn-lt"/>
                    <a:ea typeface="+mn-ea"/>
                    <a:cs typeface="+mn-cs"/>
                  </a:defRPr>
                </a:pPr>
                <a:r>
                  <a:rPr lang="en-US"/>
                  <a:t>Years</a:t>
                </a:r>
              </a:p>
            </c:rich>
          </c:tx>
          <c:overlay val="0"/>
          <c:spPr>
            <a:noFill/>
            <a:ln>
              <a:noFill/>
            </a:ln>
            <a:effectLst/>
          </c:spPr>
          <c:txPr>
            <a:bodyPr rot="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453402048"/>
        <c:crosses val="autoZero"/>
        <c:auto val="1"/>
        <c:lblAlgn val="ctr"/>
        <c:lblOffset val="100"/>
        <c:noMultiLvlLbl val="0"/>
      </c:catAx>
      <c:valAx>
        <c:axId val="453402048"/>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900" b="1" i="0" u="none" strike="noStrike" kern="1200" baseline="0">
                    <a:solidFill>
                      <a:schemeClr val="tx2"/>
                    </a:solidFill>
                    <a:latin typeface="+mn-lt"/>
                    <a:ea typeface="+mn-ea"/>
                    <a:cs typeface="+mn-cs"/>
                  </a:defRPr>
                </a:pPr>
                <a:r>
                  <a:rPr lang="en-US"/>
                  <a:t>Total Sales</a:t>
                </a:r>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453401688"/>
        <c:crosses val="autoZero"/>
        <c:crossBetween val="between"/>
      </c:valAx>
      <c:spPr>
        <a:noFill/>
        <a:ln>
          <a:noFill/>
        </a:ln>
        <a:effectLst/>
      </c:spPr>
    </c:plotArea>
    <c:legend>
      <c:legendPos val="b"/>
      <c:layout>
        <c:manualLayout>
          <c:xMode val="edge"/>
          <c:yMode val="edge"/>
          <c:x val="0.3376220472440945"/>
          <c:y val="0.89872630504520268"/>
          <c:w val="0.33586701662292212"/>
          <c:h val="7.8125546806649182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Sugar Free Presence vs Sales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spPr>
            <a:solidFill>
              <a:srgbClr val="0074BF"/>
            </a:solidFill>
          </c:spPr>
          <c:dPt>
            <c:idx val="0"/>
            <c:bubble3D val="0"/>
            <c:spPr>
              <a:solidFill>
                <a:srgbClr val="0074BF"/>
              </a:solidFill>
              <a:ln w="19050">
                <a:solidFill>
                  <a:schemeClr val="lt1"/>
                </a:solidFill>
              </a:ln>
              <a:effectLst/>
            </c:spPr>
            <c:extLst>
              <c:ext xmlns:c16="http://schemas.microsoft.com/office/drawing/2014/chart" uri="{C3380CC4-5D6E-409C-BE32-E72D297353CC}">
                <c16:uniqueId val="{00000001-4F14-430C-8318-178894D2B82C}"/>
              </c:ext>
            </c:extLst>
          </c:dPt>
          <c:dPt>
            <c:idx val="1"/>
            <c:bubble3D val="0"/>
            <c:spPr>
              <a:solidFill>
                <a:srgbClr val="FF5958"/>
              </a:solidFill>
              <a:ln w="19050">
                <a:solidFill>
                  <a:schemeClr val="lt1"/>
                </a:solidFill>
              </a:ln>
              <a:effectLst/>
            </c:spPr>
            <c:extLst>
              <c:ext xmlns:c16="http://schemas.microsoft.com/office/drawing/2014/chart" uri="{C3380CC4-5D6E-409C-BE32-E72D297353CC}">
                <c16:uniqueId val="{00000003-4F14-430C-8318-178894D2B82C}"/>
              </c:ext>
            </c:extLst>
          </c:dPt>
          <c:dLbls>
            <c:dLbl>
              <c:idx val="0"/>
              <c:layout>
                <c:manualLayout>
                  <c:x val="6.5220530126041926E-2"/>
                  <c:y val="-1.160542432195984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15:layout>
                    <c:manualLayout>
                      <c:w val="0.1155862247988232"/>
                      <c:h val="7.4004811898512685E-2"/>
                    </c:manualLayout>
                  </c15:layout>
                </c:ext>
                <c:ext xmlns:c16="http://schemas.microsoft.com/office/drawing/2014/chart" uri="{C3380CC4-5D6E-409C-BE32-E72D297353CC}">
                  <c16:uniqueId val="{00000001-4F14-430C-8318-178894D2B82C}"/>
                </c:ext>
              </c:extLst>
            </c:dLbl>
            <c:dLbl>
              <c:idx val="1"/>
              <c:layout>
                <c:manualLayout>
                  <c:x val="6.4428605078211401E-3"/>
                  <c:y val="2.4402158063575596E-3"/>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15:layout>
                    <c:manualLayout>
                      <c:w val="0.10093421014680858"/>
                      <c:h val="7.4004811898512685E-2"/>
                    </c:manualLayout>
                  </c15:layout>
                </c:ext>
                <c:ext xmlns:c16="http://schemas.microsoft.com/office/drawing/2014/chart" uri="{C3380CC4-5D6E-409C-BE32-E72D297353CC}">
                  <c16:uniqueId val="{00000003-4F14-430C-8318-178894D2B82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Sheet1!$U$3:$V$4</c:f>
              <c:multiLvlStrCache>
                <c:ptCount val="2"/>
                <c:lvl>
                  <c:pt idx="0">
                    <c:v>Yes</c:v>
                  </c:pt>
                  <c:pt idx="1">
                    <c:v>NO</c:v>
                  </c:pt>
                </c:lvl>
                <c:lvl>
                  <c:pt idx="0">
                    <c:v>Sugar Free</c:v>
                  </c:pt>
                </c:lvl>
              </c:multiLvlStrCache>
            </c:multiLvlStrRef>
          </c:cat>
          <c:val>
            <c:numRef>
              <c:f>Sheet1!$U$5:$V$5</c:f>
              <c:numCache>
                <c:formatCode>General</c:formatCode>
                <c:ptCount val="2"/>
                <c:pt idx="0">
                  <c:v>1226664</c:v>
                </c:pt>
                <c:pt idx="1">
                  <c:v>254184</c:v>
                </c:pt>
              </c:numCache>
            </c:numRef>
          </c:val>
          <c:extLst>
            <c:ext xmlns:c16="http://schemas.microsoft.com/office/drawing/2014/chart" uri="{C3380CC4-5D6E-409C-BE32-E72D297353CC}">
              <c16:uniqueId val="{00000004-4F14-430C-8318-178894D2B82C}"/>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Yellow Edition Presence vs Sales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spPr>
            <a:solidFill>
              <a:srgbClr val="0070C0"/>
            </a:solidFill>
          </c:spPr>
          <c:dPt>
            <c:idx val="0"/>
            <c:bubble3D val="0"/>
            <c:spPr>
              <a:solidFill>
                <a:srgbClr val="0070C0"/>
              </a:solidFill>
              <a:ln w="19050">
                <a:solidFill>
                  <a:schemeClr val="lt1"/>
                </a:solidFill>
              </a:ln>
              <a:effectLst/>
            </c:spPr>
            <c:extLst>
              <c:ext xmlns:c16="http://schemas.microsoft.com/office/drawing/2014/chart" uri="{C3380CC4-5D6E-409C-BE32-E72D297353CC}">
                <c16:uniqueId val="{00000001-C75F-4462-81BA-371F17EBD546}"/>
              </c:ext>
            </c:extLst>
          </c:dPt>
          <c:dPt>
            <c:idx val="1"/>
            <c:bubble3D val="0"/>
            <c:spPr>
              <a:solidFill>
                <a:srgbClr val="FF5958"/>
              </a:solidFill>
              <a:ln w="19050">
                <a:solidFill>
                  <a:schemeClr val="lt1"/>
                </a:solidFill>
              </a:ln>
              <a:effectLst/>
            </c:spPr>
            <c:extLst>
              <c:ext xmlns:c16="http://schemas.microsoft.com/office/drawing/2014/chart" uri="{C3380CC4-5D6E-409C-BE32-E72D297353CC}">
                <c16:uniqueId val="{00000003-C75F-4462-81BA-371F17EBD546}"/>
              </c:ext>
            </c:extLst>
          </c:dPt>
          <c:dLbls>
            <c:dLbl>
              <c:idx val="0"/>
              <c:layout>
                <c:manualLayout>
                  <c:x val="6.2970253718285145E-3"/>
                  <c:y val="-0.1383905657626130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15:layout>
                    <c:manualLayout>
                      <c:w val="7.9319553805774268E-2"/>
                      <c:h val="0.11104184893554971"/>
                    </c:manualLayout>
                  </c15:layout>
                </c:ext>
                <c:ext xmlns:c16="http://schemas.microsoft.com/office/drawing/2014/chart" uri="{C3380CC4-5D6E-409C-BE32-E72D297353CC}">
                  <c16:uniqueId val="{00000001-C75F-4462-81BA-371F17EBD546}"/>
                </c:ext>
              </c:extLst>
            </c:dLbl>
            <c:dLbl>
              <c:idx val="1"/>
              <c:layout>
                <c:manualLayout>
                  <c:x val="-9.9246448247656827E-3"/>
                  <c:y val="-6.9848899095946326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15:layout>
                    <c:manualLayout>
                      <c:w val="0.1224383828377201"/>
                      <c:h val="0.11104184893554971"/>
                    </c:manualLayout>
                  </c15:layout>
                </c:ext>
                <c:ext xmlns:c16="http://schemas.microsoft.com/office/drawing/2014/chart" uri="{C3380CC4-5D6E-409C-BE32-E72D297353CC}">
                  <c16:uniqueId val="{00000003-C75F-4462-81BA-371F17EBD54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Sheet1!$W$3:$X$4</c:f>
              <c:multiLvlStrCache>
                <c:ptCount val="2"/>
                <c:lvl>
                  <c:pt idx="0">
                    <c:v>Yes</c:v>
                  </c:pt>
                  <c:pt idx="1">
                    <c:v>No</c:v>
                  </c:pt>
                </c:lvl>
                <c:lvl>
                  <c:pt idx="0">
                    <c:v>Yellow Edition</c:v>
                  </c:pt>
                </c:lvl>
              </c:multiLvlStrCache>
            </c:multiLvlStrRef>
          </c:cat>
          <c:val>
            <c:numRef>
              <c:f>Sheet1!$W$5:$X$5</c:f>
              <c:numCache>
                <c:formatCode>General</c:formatCode>
                <c:ptCount val="2"/>
                <c:pt idx="0">
                  <c:v>768615</c:v>
                </c:pt>
                <c:pt idx="1">
                  <c:v>712233</c:v>
                </c:pt>
              </c:numCache>
            </c:numRef>
          </c:val>
          <c:extLst>
            <c:ext xmlns:c16="http://schemas.microsoft.com/office/drawing/2014/chart" uri="{C3380CC4-5D6E-409C-BE32-E72D297353CC}">
              <c16:uniqueId val="{00000004-C75F-4462-81BA-371F17EBD546}"/>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[Account Sales Data for Analysis v2 (Recovered).xlsx]Sheet11!PivotTable5</c:name>
    <c:fmtId val="4"/>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Sheet11!$H$2</c:f>
              <c:strCache>
                <c:ptCount val="1"/>
                <c:pt idx="0">
                  <c:v>Total</c:v>
                </c:pt>
              </c:strCache>
            </c:strRef>
          </c:tx>
          <c:spPr>
            <a:solidFill>
              <a:srgbClr val="0070C0"/>
            </a:solidFill>
            <a:ln>
              <a:noFill/>
            </a:ln>
            <a:effectLst/>
          </c:spPr>
          <c:invertIfNegative val="0"/>
          <c:cat>
            <c:multiLvlStrRef>
              <c:f>Sheet11!$G$3:$G$28</c:f>
              <c:multiLvlStrCache>
                <c:ptCount val="11"/>
                <c:lvl>
                  <c:pt idx="0">
                    <c:v>No</c:v>
                  </c:pt>
                  <c:pt idx="1">
                    <c:v>No</c:v>
                  </c:pt>
                  <c:pt idx="2">
                    <c:v>No</c:v>
                  </c:pt>
                  <c:pt idx="3">
                    <c:v>No</c:v>
                  </c:pt>
                  <c:pt idx="4">
                    <c:v>No</c:v>
                  </c:pt>
                  <c:pt idx="5">
                    <c:v>Yes</c:v>
                  </c:pt>
                  <c:pt idx="6">
                    <c:v>No</c:v>
                  </c:pt>
                  <c:pt idx="7">
                    <c:v>Yes</c:v>
                  </c:pt>
                  <c:pt idx="8">
                    <c:v>No</c:v>
                  </c:pt>
                  <c:pt idx="9">
                    <c:v>No</c:v>
                  </c:pt>
                  <c:pt idx="10">
                    <c:v>Yes</c:v>
                  </c:pt>
                </c:lvl>
                <c:lvl>
                  <c:pt idx="0">
                    <c:v>No</c:v>
                  </c:pt>
                  <c:pt idx="1">
                    <c:v>Yes</c:v>
                  </c:pt>
                  <c:pt idx="2">
                    <c:v>No</c:v>
                  </c:pt>
                  <c:pt idx="3">
                    <c:v>Yes</c:v>
                  </c:pt>
                  <c:pt idx="4">
                    <c:v>No</c:v>
                  </c:pt>
                  <c:pt idx="6">
                    <c:v>Yes</c:v>
                  </c:pt>
                  <c:pt idx="8">
                    <c:v>No</c:v>
                  </c:pt>
                  <c:pt idx="9">
                    <c:v>Yes</c:v>
                  </c:pt>
                </c:lvl>
                <c:lvl>
                  <c:pt idx="0">
                    <c:v>No</c:v>
                  </c:pt>
                  <c:pt idx="2">
                    <c:v>Yes</c:v>
                  </c:pt>
                  <c:pt idx="4">
                    <c:v>No</c:v>
                  </c:pt>
                  <c:pt idx="8">
                    <c:v>Yes</c:v>
                  </c:pt>
                </c:lvl>
                <c:lvl>
                  <c:pt idx="0">
                    <c:v>No</c:v>
                  </c:pt>
                  <c:pt idx="4">
                    <c:v>Yes</c:v>
                  </c:pt>
                </c:lvl>
              </c:multiLvlStrCache>
            </c:multiLvlStrRef>
          </c:cat>
          <c:val>
            <c:numRef>
              <c:f>Sheet11!$H$3:$H$28</c:f>
              <c:numCache>
                <c:formatCode>General</c:formatCode>
                <c:ptCount val="11"/>
                <c:pt idx="0">
                  <c:v>336983</c:v>
                </c:pt>
                <c:pt idx="1">
                  <c:v>45108</c:v>
                </c:pt>
                <c:pt idx="2">
                  <c:v>37718</c:v>
                </c:pt>
                <c:pt idx="3">
                  <c:v>30450</c:v>
                </c:pt>
                <c:pt idx="4">
                  <c:v>296700</c:v>
                </c:pt>
                <c:pt idx="5">
                  <c:v>143898</c:v>
                </c:pt>
                <c:pt idx="6">
                  <c:v>32872</c:v>
                </c:pt>
                <c:pt idx="7">
                  <c:v>23830</c:v>
                </c:pt>
                <c:pt idx="8">
                  <c:v>195253</c:v>
                </c:pt>
                <c:pt idx="9">
                  <c:v>93942</c:v>
                </c:pt>
                <c:pt idx="10">
                  <c:v>244094</c:v>
                </c:pt>
              </c:numCache>
            </c:numRef>
          </c:val>
          <c:extLst>
            <c:ext xmlns:c16="http://schemas.microsoft.com/office/drawing/2014/chart" uri="{C3380CC4-5D6E-409C-BE32-E72D297353CC}">
              <c16:uniqueId val="{00000000-C1F1-4CF6-B6CB-64DBF32DE011}"/>
            </c:ext>
          </c:extLst>
        </c:ser>
        <c:dLbls>
          <c:showLegendKey val="0"/>
          <c:showVal val="0"/>
          <c:showCatName val="0"/>
          <c:showSerName val="0"/>
          <c:showPercent val="0"/>
          <c:showBubbleSize val="0"/>
        </c:dLbls>
        <c:gapWidth val="182"/>
        <c:axId val="739885880"/>
        <c:axId val="739886600"/>
      </c:barChart>
      <c:catAx>
        <c:axId val="73988588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9886600"/>
        <c:crosses val="autoZero"/>
        <c:auto val="1"/>
        <c:lblAlgn val="ctr"/>
        <c:lblOffset val="100"/>
        <c:noMultiLvlLbl val="0"/>
      </c:catAx>
      <c:valAx>
        <c:axId val="73988660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Total Sales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98858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26">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dk1">
            <a:lumMod val="75000"/>
            <a:lumOff val="25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dk1">
            <a:lumMod val="75000"/>
            <a:lumOff val="25000"/>
          </a:schemeClr>
        </a:solidFill>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endParaRPr lang="en-GB"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43B4800-137F-4CB6-8075-5FBD5B7CCB7E}" type="slidenum">
              <a:rPr lang="en-GB" smtClean="0"/>
              <a:t>‹#›</a:t>
            </a:fld>
            <a:endParaRPr lang="en-GB" dirty="0"/>
          </a:p>
        </p:txBody>
      </p:sp>
    </p:spTree>
    <p:extLst>
      <p:ext uri="{BB962C8B-B14F-4D97-AF65-F5344CB8AC3E}">
        <p14:creationId xmlns:p14="http://schemas.microsoft.com/office/powerpoint/2010/main" val="307201412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7A06A-650F-4CE8-B8A3-9C9422B0D088}" type="slidenum">
              <a:rPr lang="en-GB" smtClean="0"/>
              <a:t>‹#›</a:t>
            </a:fld>
            <a:endParaRPr lang="en-GB" dirty="0"/>
          </a:p>
        </p:txBody>
      </p:sp>
    </p:spTree>
    <p:extLst>
      <p:ext uri="{BB962C8B-B14F-4D97-AF65-F5344CB8AC3E}">
        <p14:creationId xmlns:p14="http://schemas.microsoft.com/office/powerpoint/2010/main" val="380166849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GB"/>
          </a:p>
        </p:txBody>
      </p:sp>
      <p:sp>
        <p:nvSpPr>
          <p:cNvPr id="4" name="Footer Placeholder 3"/>
          <p:cNvSpPr>
            <a:spLocks noGrp="1"/>
          </p:cNvSpPr>
          <p:nvPr>
            <p:ph type="ftr" sz="quarter" idx="10"/>
          </p:nvPr>
        </p:nvSpPr>
        <p:spPr/>
        <p:txBody>
          <a:bodyPr/>
          <a:lstStyle/>
          <a:p>
            <a:endParaRPr lang="en-GB" dirty="0"/>
          </a:p>
        </p:txBody>
      </p:sp>
      <p:sp>
        <p:nvSpPr>
          <p:cNvPr id="5" name="Slide Number Placeholder 4"/>
          <p:cNvSpPr>
            <a:spLocks noGrp="1"/>
          </p:cNvSpPr>
          <p:nvPr>
            <p:ph type="sldNum" sz="quarter" idx="11"/>
          </p:nvPr>
        </p:nvSpPr>
        <p:spPr/>
        <p:txBody>
          <a:bodyPr/>
          <a:lstStyle/>
          <a:p>
            <a:fld id="{5C87A06A-650F-4CE8-B8A3-9C9422B0D088}" type="slidenum">
              <a:rPr lang="en-GB" smtClean="0"/>
              <a:t>0</a:t>
            </a:fld>
            <a:endParaRPr lang="en-GB" dirty="0"/>
          </a:p>
        </p:txBody>
      </p:sp>
    </p:spTree>
    <p:extLst>
      <p:ext uri="{BB962C8B-B14F-4D97-AF65-F5344CB8AC3E}">
        <p14:creationId xmlns:p14="http://schemas.microsoft.com/office/powerpoint/2010/main" val="4290912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GB"/>
          </a:p>
        </p:txBody>
      </p:sp>
      <p:sp>
        <p:nvSpPr>
          <p:cNvPr id="4" name="Footer Placeholder 3"/>
          <p:cNvSpPr>
            <a:spLocks noGrp="1"/>
          </p:cNvSpPr>
          <p:nvPr>
            <p:ph type="ftr" sz="quarter" idx="10"/>
          </p:nvPr>
        </p:nvSpPr>
        <p:spPr/>
        <p:txBody>
          <a:bodyPr/>
          <a:lstStyle/>
          <a:p>
            <a:endParaRPr lang="en-GB" dirty="0"/>
          </a:p>
        </p:txBody>
      </p:sp>
      <p:sp>
        <p:nvSpPr>
          <p:cNvPr id="5" name="Slide Number Placeholder 4"/>
          <p:cNvSpPr>
            <a:spLocks noGrp="1"/>
          </p:cNvSpPr>
          <p:nvPr>
            <p:ph type="sldNum" sz="quarter" idx="11"/>
          </p:nvPr>
        </p:nvSpPr>
        <p:spPr/>
        <p:txBody>
          <a:bodyPr/>
          <a:lstStyle/>
          <a:p>
            <a:fld id="{5C87A06A-650F-4CE8-B8A3-9C9422B0D088}" type="slidenum">
              <a:rPr lang="en-GB" smtClean="0"/>
              <a:t>1</a:t>
            </a:fld>
            <a:endParaRPr lang="en-GB" dirty="0"/>
          </a:p>
        </p:txBody>
      </p:sp>
    </p:spTree>
    <p:extLst>
      <p:ext uri="{BB962C8B-B14F-4D97-AF65-F5344CB8AC3E}">
        <p14:creationId xmlns:p14="http://schemas.microsoft.com/office/powerpoint/2010/main" val="1799221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BDCE8-FB24-8D27-FB43-6403A87D3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B2A950-5FDA-F138-245C-4F9B5F37FF41}"/>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205800E4-D685-4C48-74A9-FD6908698C9D}"/>
              </a:ext>
            </a:extLst>
          </p:cNvPr>
          <p:cNvSpPr>
            <a:spLocks noGrp="1"/>
          </p:cNvSpPr>
          <p:nvPr>
            <p:ph type="body" idx="1"/>
          </p:nvPr>
        </p:nvSpPr>
        <p:spPr/>
        <p:txBody>
          <a:bodyPr/>
          <a:lstStyle/>
          <a:p>
            <a:endParaRPr lang="en-GB"/>
          </a:p>
        </p:txBody>
      </p:sp>
      <p:sp>
        <p:nvSpPr>
          <p:cNvPr id="4" name="Footer Placeholder 3">
            <a:extLst>
              <a:ext uri="{FF2B5EF4-FFF2-40B4-BE49-F238E27FC236}">
                <a16:creationId xmlns:a16="http://schemas.microsoft.com/office/drawing/2014/main" id="{44E1E876-09A8-3C61-BE91-30CA3CCA2AEF}"/>
              </a:ext>
            </a:extLst>
          </p:cNvPr>
          <p:cNvSpPr>
            <a:spLocks noGrp="1"/>
          </p:cNvSpPr>
          <p:nvPr>
            <p:ph type="ftr" sz="quarter" idx="10"/>
          </p:nvPr>
        </p:nvSpPr>
        <p:spPr/>
        <p:txBody>
          <a:bodyPr/>
          <a:lstStyle/>
          <a:p>
            <a:endParaRPr lang="en-GB" dirty="0"/>
          </a:p>
        </p:txBody>
      </p:sp>
      <p:sp>
        <p:nvSpPr>
          <p:cNvPr id="5" name="Slide Number Placeholder 4">
            <a:extLst>
              <a:ext uri="{FF2B5EF4-FFF2-40B4-BE49-F238E27FC236}">
                <a16:creationId xmlns:a16="http://schemas.microsoft.com/office/drawing/2014/main" id="{C2F70646-7724-A12F-05E2-D05C786FD8FB}"/>
              </a:ext>
            </a:extLst>
          </p:cNvPr>
          <p:cNvSpPr>
            <a:spLocks noGrp="1"/>
          </p:cNvSpPr>
          <p:nvPr>
            <p:ph type="sldNum" sz="quarter" idx="11"/>
          </p:nvPr>
        </p:nvSpPr>
        <p:spPr/>
        <p:txBody>
          <a:bodyPr/>
          <a:lstStyle/>
          <a:p>
            <a:fld id="{5C87A06A-650F-4CE8-B8A3-9C9422B0D088}" type="slidenum">
              <a:rPr lang="en-GB" smtClean="0"/>
              <a:t>2</a:t>
            </a:fld>
            <a:endParaRPr lang="en-GB" dirty="0"/>
          </a:p>
        </p:txBody>
      </p:sp>
    </p:spTree>
    <p:extLst>
      <p:ext uri="{BB962C8B-B14F-4D97-AF65-F5344CB8AC3E}">
        <p14:creationId xmlns:p14="http://schemas.microsoft.com/office/powerpoint/2010/main" val="1943843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5AC66-0FE1-8E18-1385-E5F58BCBF0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C68AA-A1E4-222F-E1F6-E5392D8E6A9F}"/>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55BCB965-2BB8-BA8F-B5C4-E9BEB96B4C8D}"/>
              </a:ext>
            </a:extLst>
          </p:cNvPr>
          <p:cNvSpPr>
            <a:spLocks noGrp="1"/>
          </p:cNvSpPr>
          <p:nvPr>
            <p:ph type="body" idx="1"/>
          </p:nvPr>
        </p:nvSpPr>
        <p:spPr/>
        <p:txBody>
          <a:bodyPr/>
          <a:lstStyle/>
          <a:p>
            <a:endParaRPr lang="en-GB"/>
          </a:p>
        </p:txBody>
      </p:sp>
      <p:sp>
        <p:nvSpPr>
          <p:cNvPr id="4" name="Footer Placeholder 3">
            <a:extLst>
              <a:ext uri="{FF2B5EF4-FFF2-40B4-BE49-F238E27FC236}">
                <a16:creationId xmlns:a16="http://schemas.microsoft.com/office/drawing/2014/main" id="{392B6ED9-771E-1C5E-2B36-AE6831BF9BD5}"/>
              </a:ext>
            </a:extLst>
          </p:cNvPr>
          <p:cNvSpPr>
            <a:spLocks noGrp="1"/>
          </p:cNvSpPr>
          <p:nvPr>
            <p:ph type="ftr" sz="quarter" idx="10"/>
          </p:nvPr>
        </p:nvSpPr>
        <p:spPr/>
        <p:txBody>
          <a:bodyPr/>
          <a:lstStyle/>
          <a:p>
            <a:endParaRPr lang="en-GB" dirty="0"/>
          </a:p>
        </p:txBody>
      </p:sp>
      <p:sp>
        <p:nvSpPr>
          <p:cNvPr id="5" name="Slide Number Placeholder 4">
            <a:extLst>
              <a:ext uri="{FF2B5EF4-FFF2-40B4-BE49-F238E27FC236}">
                <a16:creationId xmlns:a16="http://schemas.microsoft.com/office/drawing/2014/main" id="{94EFEF1C-7161-04D9-F7B8-5F9529B14916}"/>
              </a:ext>
            </a:extLst>
          </p:cNvPr>
          <p:cNvSpPr>
            <a:spLocks noGrp="1"/>
          </p:cNvSpPr>
          <p:nvPr>
            <p:ph type="sldNum" sz="quarter" idx="11"/>
          </p:nvPr>
        </p:nvSpPr>
        <p:spPr/>
        <p:txBody>
          <a:bodyPr/>
          <a:lstStyle/>
          <a:p>
            <a:fld id="{5C87A06A-650F-4CE8-B8A3-9C9422B0D088}" type="slidenum">
              <a:rPr lang="en-GB" smtClean="0"/>
              <a:t>3</a:t>
            </a:fld>
            <a:endParaRPr lang="en-GB" dirty="0"/>
          </a:p>
        </p:txBody>
      </p:sp>
    </p:spTree>
    <p:extLst>
      <p:ext uri="{BB962C8B-B14F-4D97-AF65-F5344CB8AC3E}">
        <p14:creationId xmlns:p14="http://schemas.microsoft.com/office/powerpoint/2010/main" val="1582786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GB"/>
          </a:p>
        </p:txBody>
      </p:sp>
      <p:sp>
        <p:nvSpPr>
          <p:cNvPr id="4" name="Footer Placeholder 3"/>
          <p:cNvSpPr>
            <a:spLocks noGrp="1"/>
          </p:cNvSpPr>
          <p:nvPr>
            <p:ph type="ftr" sz="quarter" idx="10"/>
          </p:nvPr>
        </p:nvSpPr>
        <p:spPr/>
        <p:txBody>
          <a:bodyPr/>
          <a:lstStyle/>
          <a:p>
            <a:endParaRPr lang="en-GB" dirty="0"/>
          </a:p>
        </p:txBody>
      </p:sp>
      <p:sp>
        <p:nvSpPr>
          <p:cNvPr id="5" name="Slide Number Placeholder 4"/>
          <p:cNvSpPr>
            <a:spLocks noGrp="1"/>
          </p:cNvSpPr>
          <p:nvPr>
            <p:ph type="sldNum" sz="quarter" idx="11"/>
          </p:nvPr>
        </p:nvSpPr>
        <p:spPr/>
        <p:txBody>
          <a:bodyPr/>
          <a:lstStyle/>
          <a:p>
            <a:fld id="{5C87A06A-650F-4CE8-B8A3-9C9422B0D088}" type="slidenum">
              <a:rPr lang="en-GB" smtClean="0"/>
              <a:t>4</a:t>
            </a:fld>
            <a:endParaRPr lang="en-GB" dirty="0"/>
          </a:p>
        </p:txBody>
      </p:sp>
    </p:spTree>
    <p:extLst>
      <p:ext uri="{BB962C8B-B14F-4D97-AF65-F5344CB8AC3E}">
        <p14:creationId xmlns:p14="http://schemas.microsoft.com/office/powerpoint/2010/main" val="1422864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GB"/>
          </a:p>
        </p:txBody>
      </p:sp>
      <p:sp>
        <p:nvSpPr>
          <p:cNvPr id="4" name="Footer Placeholder 3"/>
          <p:cNvSpPr>
            <a:spLocks noGrp="1"/>
          </p:cNvSpPr>
          <p:nvPr>
            <p:ph type="ftr" sz="quarter" idx="10"/>
          </p:nvPr>
        </p:nvSpPr>
        <p:spPr/>
        <p:txBody>
          <a:bodyPr/>
          <a:lstStyle/>
          <a:p>
            <a:endParaRPr lang="en-GB" dirty="0"/>
          </a:p>
        </p:txBody>
      </p:sp>
      <p:sp>
        <p:nvSpPr>
          <p:cNvPr id="5" name="Slide Number Placeholder 4"/>
          <p:cNvSpPr>
            <a:spLocks noGrp="1"/>
          </p:cNvSpPr>
          <p:nvPr>
            <p:ph type="sldNum" sz="quarter" idx="11"/>
          </p:nvPr>
        </p:nvSpPr>
        <p:spPr/>
        <p:txBody>
          <a:bodyPr/>
          <a:lstStyle/>
          <a:p>
            <a:fld id="{5C87A06A-650F-4CE8-B8A3-9C9422B0D088}" type="slidenum">
              <a:rPr lang="en-GB" smtClean="0"/>
              <a:t>5</a:t>
            </a:fld>
            <a:endParaRPr lang="en-GB" dirty="0"/>
          </a:p>
        </p:txBody>
      </p:sp>
    </p:spTree>
    <p:extLst>
      <p:ext uri="{BB962C8B-B14F-4D97-AF65-F5344CB8AC3E}">
        <p14:creationId xmlns:p14="http://schemas.microsoft.com/office/powerpoint/2010/main" val="232629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35B4E-37BB-B5FD-8404-9D20E6BAB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3AED4C-8564-8121-3216-FDD64C5F15D7}"/>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461105C0-80A2-9340-C085-368065A9D272}"/>
              </a:ext>
            </a:extLst>
          </p:cNvPr>
          <p:cNvSpPr>
            <a:spLocks noGrp="1"/>
          </p:cNvSpPr>
          <p:nvPr>
            <p:ph type="body" idx="1"/>
          </p:nvPr>
        </p:nvSpPr>
        <p:spPr/>
        <p:txBody>
          <a:bodyPr/>
          <a:lstStyle/>
          <a:p>
            <a:endParaRPr lang="en-GB"/>
          </a:p>
        </p:txBody>
      </p:sp>
      <p:sp>
        <p:nvSpPr>
          <p:cNvPr id="4" name="Footer Placeholder 3">
            <a:extLst>
              <a:ext uri="{FF2B5EF4-FFF2-40B4-BE49-F238E27FC236}">
                <a16:creationId xmlns:a16="http://schemas.microsoft.com/office/drawing/2014/main" id="{63E0E1A2-F966-E649-8435-9E665B176E3A}"/>
              </a:ext>
            </a:extLst>
          </p:cNvPr>
          <p:cNvSpPr>
            <a:spLocks noGrp="1"/>
          </p:cNvSpPr>
          <p:nvPr>
            <p:ph type="ftr" sz="quarter" idx="10"/>
          </p:nvPr>
        </p:nvSpPr>
        <p:spPr/>
        <p:txBody>
          <a:bodyPr/>
          <a:lstStyle/>
          <a:p>
            <a:endParaRPr lang="en-GB" dirty="0"/>
          </a:p>
        </p:txBody>
      </p:sp>
      <p:sp>
        <p:nvSpPr>
          <p:cNvPr id="5" name="Slide Number Placeholder 4">
            <a:extLst>
              <a:ext uri="{FF2B5EF4-FFF2-40B4-BE49-F238E27FC236}">
                <a16:creationId xmlns:a16="http://schemas.microsoft.com/office/drawing/2014/main" id="{5E3DC860-644E-0F7F-8B8A-050F1471E468}"/>
              </a:ext>
            </a:extLst>
          </p:cNvPr>
          <p:cNvSpPr>
            <a:spLocks noGrp="1"/>
          </p:cNvSpPr>
          <p:nvPr>
            <p:ph type="sldNum" sz="quarter" idx="11"/>
          </p:nvPr>
        </p:nvSpPr>
        <p:spPr/>
        <p:txBody>
          <a:bodyPr/>
          <a:lstStyle/>
          <a:p>
            <a:fld id="{5C87A06A-650F-4CE8-B8A3-9C9422B0D088}" type="slidenum">
              <a:rPr lang="en-GB" smtClean="0"/>
              <a:t>6</a:t>
            </a:fld>
            <a:endParaRPr lang="en-GB" dirty="0"/>
          </a:p>
        </p:txBody>
      </p:sp>
    </p:spTree>
    <p:extLst>
      <p:ext uri="{BB962C8B-B14F-4D97-AF65-F5344CB8AC3E}">
        <p14:creationId xmlns:p14="http://schemas.microsoft.com/office/powerpoint/2010/main" val="35875380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BD1D6-DD45-7A2A-BC43-6566E22018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EEAA11-944A-DE87-F371-3B6644FF6694}"/>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02C3E623-0BBB-EE3E-1F2B-8894CB80E73E}"/>
              </a:ext>
            </a:extLst>
          </p:cNvPr>
          <p:cNvSpPr>
            <a:spLocks noGrp="1"/>
          </p:cNvSpPr>
          <p:nvPr>
            <p:ph type="body" idx="1"/>
          </p:nvPr>
        </p:nvSpPr>
        <p:spPr/>
        <p:txBody>
          <a:bodyPr/>
          <a:lstStyle/>
          <a:p>
            <a:endParaRPr lang="en-GB"/>
          </a:p>
        </p:txBody>
      </p:sp>
      <p:sp>
        <p:nvSpPr>
          <p:cNvPr id="4" name="Footer Placeholder 3">
            <a:extLst>
              <a:ext uri="{FF2B5EF4-FFF2-40B4-BE49-F238E27FC236}">
                <a16:creationId xmlns:a16="http://schemas.microsoft.com/office/drawing/2014/main" id="{A49B3857-5D06-3B32-56AC-0C69970B70CE}"/>
              </a:ext>
            </a:extLst>
          </p:cNvPr>
          <p:cNvSpPr>
            <a:spLocks noGrp="1"/>
          </p:cNvSpPr>
          <p:nvPr>
            <p:ph type="ftr" sz="quarter" idx="10"/>
          </p:nvPr>
        </p:nvSpPr>
        <p:spPr/>
        <p:txBody>
          <a:bodyPr/>
          <a:lstStyle/>
          <a:p>
            <a:endParaRPr lang="en-GB" dirty="0"/>
          </a:p>
        </p:txBody>
      </p:sp>
      <p:sp>
        <p:nvSpPr>
          <p:cNvPr id="5" name="Slide Number Placeholder 4">
            <a:extLst>
              <a:ext uri="{FF2B5EF4-FFF2-40B4-BE49-F238E27FC236}">
                <a16:creationId xmlns:a16="http://schemas.microsoft.com/office/drawing/2014/main" id="{700B1558-B5E3-43A0-EC95-18B1B7362C82}"/>
              </a:ext>
            </a:extLst>
          </p:cNvPr>
          <p:cNvSpPr>
            <a:spLocks noGrp="1"/>
          </p:cNvSpPr>
          <p:nvPr>
            <p:ph type="sldNum" sz="quarter" idx="11"/>
          </p:nvPr>
        </p:nvSpPr>
        <p:spPr/>
        <p:txBody>
          <a:bodyPr/>
          <a:lstStyle/>
          <a:p>
            <a:fld id="{5C87A06A-650F-4CE8-B8A3-9C9422B0D088}" type="slidenum">
              <a:rPr lang="en-GB" smtClean="0"/>
              <a:t>7</a:t>
            </a:fld>
            <a:endParaRPr lang="en-GB" dirty="0"/>
          </a:p>
        </p:txBody>
      </p:sp>
    </p:spTree>
    <p:extLst>
      <p:ext uri="{BB962C8B-B14F-4D97-AF65-F5344CB8AC3E}">
        <p14:creationId xmlns:p14="http://schemas.microsoft.com/office/powerpoint/2010/main" val="1532985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7FABF-8D64-011A-046F-BCD86CECE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ACCFC-64A0-E9ED-0B6F-6AABC0DA9613}"/>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52027486-9BCA-EAE9-4A43-20CD76D2A0E3}"/>
              </a:ext>
            </a:extLst>
          </p:cNvPr>
          <p:cNvSpPr>
            <a:spLocks noGrp="1"/>
          </p:cNvSpPr>
          <p:nvPr>
            <p:ph type="body" idx="1"/>
          </p:nvPr>
        </p:nvSpPr>
        <p:spPr/>
        <p:txBody>
          <a:bodyPr/>
          <a:lstStyle/>
          <a:p>
            <a:endParaRPr lang="en-GB"/>
          </a:p>
        </p:txBody>
      </p:sp>
      <p:sp>
        <p:nvSpPr>
          <p:cNvPr id="4" name="Footer Placeholder 3">
            <a:extLst>
              <a:ext uri="{FF2B5EF4-FFF2-40B4-BE49-F238E27FC236}">
                <a16:creationId xmlns:a16="http://schemas.microsoft.com/office/drawing/2014/main" id="{6E32DBF8-2CCC-2ABB-B47F-17D3355725AB}"/>
              </a:ext>
            </a:extLst>
          </p:cNvPr>
          <p:cNvSpPr>
            <a:spLocks noGrp="1"/>
          </p:cNvSpPr>
          <p:nvPr>
            <p:ph type="ftr" sz="quarter" idx="10"/>
          </p:nvPr>
        </p:nvSpPr>
        <p:spPr/>
        <p:txBody>
          <a:bodyPr/>
          <a:lstStyle/>
          <a:p>
            <a:endParaRPr lang="en-GB" dirty="0"/>
          </a:p>
        </p:txBody>
      </p:sp>
      <p:sp>
        <p:nvSpPr>
          <p:cNvPr id="5" name="Slide Number Placeholder 4">
            <a:extLst>
              <a:ext uri="{FF2B5EF4-FFF2-40B4-BE49-F238E27FC236}">
                <a16:creationId xmlns:a16="http://schemas.microsoft.com/office/drawing/2014/main" id="{C05D6D87-8F1B-4E76-A5BE-F07C5A1DCBC7}"/>
              </a:ext>
            </a:extLst>
          </p:cNvPr>
          <p:cNvSpPr>
            <a:spLocks noGrp="1"/>
          </p:cNvSpPr>
          <p:nvPr>
            <p:ph type="sldNum" sz="quarter" idx="11"/>
          </p:nvPr>
        </p:nvSpPr>
        <p:spPr/>
        <p:txBody>
          <a:bodyPr/>
          <a:lstStyle/>
          <a:p>
            <a:fld id="{5C87A06A-650F-4CE8-B8A3-9C9422B0D088}" type="slidenum">
              <a:rPr lang="en-GB" smtClean="0"/>
              <a:t>8</a:t>
            </a:fld>
            <a:endParaRPr lang="en-GB" dirty="0"/>
          </a:p>
        </p:txBody>
      </p:sp>
    </p:spTree>
    <p:extLst>
      <p:ext uri="{BB962C8B-B14F-4D97-AF65-F5344CB8AC3E}">
        <p14:creationId xmlns:p14="http://schemas.microsoft.com/office/powerpoint/2010/main" val="3265161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AD7A2-FB00-CD01-E842-7B3EC8AF6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F967D-4A77-C416-3AC2-E1DB5F8A4D91}"/>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574D96D4-1D5B-D5E2-02CC-F31F2782FCB7}"/>
              </a:ext>
            </a:extLst>
          </p:cNvPr>
          <p:cNvSpPr>
            <a:spLocks noGrp="1"/>
          </p:cNvSpPr>
          <p:nvPr>
            <p:ph type="body" idx="1"/>
          </p:nvPr>
        </p:nvSpPr>
        <p:spPr/>
        <p:txBody>
          <a:bodyPr/>
          <a:lstStyle/>
          <a:p>
            <a:endParaRPr lang="en-GB"/>
          </a:p>
        </p:txBody>
      </p:sp>
      <p:sp>
        <p:nvSpPr>
          <p:cNvPr id="4" name="Footer Placeholder 3">
            <a:extLst>
              <a:ext uri="{FF2B5EF4-FFF2-40B4-BE49-F238E27FC236}">
                <a16:creationId xmlns:a16="http://schemas.microsoft.com/office/drawing/2014/main" id="{E9D94D87-B010-927F-6563-A3F94CED64E1}"/>
              </a:ext>
            </a:extLst>
          </p:cNvPr>
          <p:cNvSpPr>
            <a:spLocks noGrp="1"/>
          </p:cNvSpPr>
          <p:nvPr>
            <p:ph type="ftr" sz="quarter" idx="10"/>
          </p:nvPr>
        </p:nvSpPr>
        <p:spPr/>
        <p:txBody>
          <a:bodyPr/>
          <a:lstStyle/>
          <a:p>
            <a:endParaRPr lang="en-GB" dirty="0"/>
          </a:p>
        </p:txBody>
      </p:sp>
      <p:sp>
        <p:nvSpPr>
          <p:cNvPr id="5" name="Slide Number Placeholder 4">
            <a:extLst>
              <a:ext uri="{FF2B5EF4-FFF2-40B4-BE49-F238E27FC236}">
                <a16:creationId xmlns:a16="http://schemas.microsoft.com/office/drawing/2014/main" id="{760B8431-7EE8-AC32-2558-35BD40B6F799}"/>
              </a:ext>
            </a:extLst>
          </p:cNvPr>
          <p:cNvSpPr>
            <a:spLocks noGrp="1"/>
          </p:cNvSpPr>
          <p:nvPr>
            <p:ph type="sldNum" sz="quarter" idx="11"/>
          </p:nvPr>
        </p:nvSpPr>
        <p:spPr/>
        <p:txBody>
          <a:bodyPr/>
          <a:lstStyle/>
          <a:p>
            <a:fld id="{5C87A06A-650F-4CE8-B8A3-9C9422B0D088}" type="slidenum">
              <a:rPr lang="en-GB" smtClean="0"/>
              <a:t>9</a:t>
            </a:fld>
            <a:endParaRPr lang="en-GB" dirty="0"/>
          </a:p>
        </p:txBody>
      </p:sp>
    </p:spTree>
    <p:extLst>
      <p:ext uri="{BB962C8B-B14F-4D97-AF65-F5344CB8AC3E}">
        <p14:creationId xmlns:p14="http://schemas.microsoft.com/office/powerpoint/2010/main" val="817059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GB"/>
          </a:p>
        </p:txBody>
      </p:sp>
      <p:sp>
        <p:nvSpPr>
          <p:cNvPr id="4" name="Footer Placeholder 3"/>
          <p:cNvSpPr>
            <a:spLocks noGrp="1"/>
          </p:cNvSpPr>
          <p:nvPr>
            <p:ph type="ftr" sz="quarter" idx="10"/>
          </p:nvPr>
        </p:nvSpPr>
        <p:spPr/>
        <p:txBody>
          <a:bodyPr/>
          <a:lstStyle/>
          <a:p>
            <a:endParaRPr lang="en-GB" dirty="0"/>
          </a:p>
        </p:txBody>
      </p:sp>
      <p:sp>
        <p:nvSpPr>
          <p:cNvPr id="5" name="Slide Number Placeholder 4"/>
          <p:cNvSpPr>
            <a:spLocks noGrp="1"/>
          </p:cNvSpPr>
          <p:nvPr>
            <p:ph type="sldNum" sz="quarter" idx="11"/>
          </p:nvPr>
        </p:nvSpPr>
        <p:spPr/>
        <p:txBody>
          <a:bodyPr/>
          <a:lstStyle/>
          <a:p>
            <a:fld id="{5C87A06A-650F-4CE8-B8A3-9C9422B0D088}" type="slidenum">
              <a:rPr lang="en-GB" smtClean="0"/>
              <a:t>10</a:t>
            </a:fld>
            <a:endParaRPr lang="en-GB" dirty="0"/>
          </a:p>
        </p:txBody>
      </p:sp>
    </p:spTree>
    <p:extLst>
      <p:ext uri="{BB962C8B-B14F-4D97-AF65-F5344CB8AC3E}">
        <p14:creationId xmlns:p14="http://schemas.microsoft.com/office/powerpoint/2010/main" val="16915340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E4A60-4DD5-491B-8A82-1672C6BF5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B636CA-797D-FA7D-F8E7-7D020FB545E0}"/>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EDF0DDCA-1618-0EDA-4AE9-F957080E3431}"/>
              </a:ext>
            </a:extLst>
          </p:cNvPr>
          <p:cNvSpPr>
            <a:spLocks noGrp="1"/>
          </p:cNvSpPr>
          <p:nvPr>
            <p:ph type="body" idx="1"/>
          </p:nvPr>
        </p:nvSpPr>
        <p:spPr/>
        <p:txBody>
          <a:bodyPr/>
          <a:lstStyle/>
          <a:p>
            <a:endParaRPr lang="en-GB"/>
          </a:p>
        </p:txBody>
      </p:sp>
      <p:sp>
        <p:nvSpPr>
          <p:cNvPr id="4" name="Footer Placeholder 3">
            <a:extLst>
              <a:ext uri="{FF2B5EF4-FFF2-40B4-BE49-F238E27FC236}">
                <a16:creationId xmlns:a16="http://schemas.microsoft.com/office/drawing/2014/main" id="{E7B7C3F4-9E76-BA6D-8F80-9771D4339AED}"/>
              </a:ext>
            </a:extLst>
          </p:cNvPr>
          <p:cNvSpPr>
            <a:spLocks noGrp="1"/>
          </p:cNvSpPr>
          <p:nvPr>
            <p:ph type="ftr" sz="quarter" idx="10"/>
          </p:nvPr>
        </p:nvSpPr>
        <p:spPr/>
        <p:txBody>
          <a:bodyPr/>
          <a:lstStyle/>
          <a:p>
            <a:endParaRPr lang="en-GB" dirty="0"/>
          </a:p>
        </p:txBody>
      </p:sp>
      <p:sp>
        <p:nvSpPr>
          <p:cNvPr id="5" name="Slide Number Placeholder 4">
            <a:extLst>
              <a:ext uri="{FF2B5EF4-FFF2-40B4-BE49-F238E27FC236}">
                <a16:creationId xmlns:a16="http://schemas.microsoft.com/office/drawing/2014/main" id="{5785EF17-9CA9-5EFC-199D-BEC8922E28AC}"/>
              </a:ext>
            </a:extLst>
          </p:cNvPr>
          <p:cNvSpPr>
            <a:spLocks noGrp="1"/>
          </p:cNvSpPr>
          <p:nvPr>
            <p:ph type="sldNum" sz="quarter" idx="11"/>
          </p:nvPr>
        </p:nvSpPr>
        <p:spPr/>
        <p:txBody>
          <a:bodyPr/>
          <a:lstStyle/>
          <a:p>
            <a:fld id="{5C87A06A-650F-4CE8-B8A3-9C9422B0D088}" type="slidenum">
              <a:rPr lang="en-GB" smtClean="0"/>
              <a:t>11</a:t>
            </a:fld>
            <a:endParaRPr lang="en-GB" dirty="0"/>
          </a:p>
        </p:txBody>
      </p:sp>
    </p:spTree>
    <p:extLst>
      <p:ext uri="{BB962C8B-B14F-4D97-AF65-F5344CB8AC3E}">
        <p14:creationId xmlns:p14="http://schemas.microsoft.com/office/powerpoint/2010/main" val="1955933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9600" y="878400"/>
            <a:ext cx="8492400" cy="856800"/>
          </a:xfrm>
        </p:spPr>
        <p:txBody>
          <a:bodyPr>
            <a:normAutofit/>
          </a:bodyPr>
          <a:lstStyle/>
          <a:p>
            <a:r>
              <a:rPr lang="en-GB" noProof="0" dirty="0"/>
              <a:t>Click to edit Master title style</a:t>
            </a:r>
          </a:p>
        </p:txBody>
      </p:sp>
      <p:sp>
        <p:nvSpPr>
          <p:cNvPr id="3" name="Subtitle 2"/>
          <p:cNvSpPr>
            <a:spLocks noGrp="1"/>
          </p:cNvSpPr>
          <p:nvPr>
            <p:ph type="subTitle" idx="1"/>
          </p:nvPr>
        </p:nvSpPr>
        <p:spPr>
          <a:xfrm>
            <a:off x="309600" y="2466000"/>
            <a:ext cx="8492400" cy="963000"/>
          </a:xfrm>
        </p:spPr>
        <p:txBody>
          <a:bodyPr lIns="360000">
            <a:noAutofit/>
          </a:bodyPr>
          <a:lstStyle>
            <a:lvl1pPr marL="0" indent="0" algn="l">
              <a:lnSpc>
                <a:spcPct val="100000"/>
              </a:lnSpc>
              <a:buNone/>
              <a:defRPr sz="2000">
                <a:solidFill>
                  <a:schemeClr val="tx1"/>
                </a:solidFill>
              </a:defRPr>
            </a:lvl1pPr>
            <a:lvl2pPr marL="457167" indent="0" algn="ctr">
              <a:buNone/>
              <a:defRPr>
                <a:solidFill>
                  <a:schemeClr val="tx1">
                    <a:tint val="75000"/>
                  </a:schemeClr>
                </a:solidFill>
              </a:defRPr>
            </a:lvl2pPr>
            <a:lvl3pPr marL="914332" indent="0" algn="ctr">
              <a:buNone/>
              <a:defRPr>
                <a:solidFill>
                  <a:schemeClr val="tx1">
                    <a:tint val="75000"/>
                  </a:schemeClr>
                </a:solidFill>
              </a:defRPr>
            </a:lvl3pPr>
            <a:lvl4pPr marL="1371498" indent="0" algn="ctr">
              <a:buNone/>
              <a:defRPr>
                <a:solidFill>
                  <a:schemeClr val="tx1">
                    <a:tint val="75000"/>
                  </a:schemeClr>
                </a:solidFill>
              </a:defRPr>
            </a:lvl4pPr>
            <a:lvl5pPr marL="1828664" indent="0" algn="ctr">
              <a:buNone/>
              <a:defRPr>
                <a:solidFill>
                  <a:schemeClr val="tx1">
                    <a:tint val="75000"/>
                  </a:schemeClr>
                </a:solidFill>
              </a:defRPr>
            </a:lvl5pPr>
            <a:lvl6pPr marL="2285830" indent="0" algn="ctr">
              <a:buNone/>
              <a:defRPr>
                <a:solidFill>
                  <a:schemeClr val="tx1">
                    <a:tint val="75000"/>
                  </a:schemeClr>
                </a:solidFill>
              </a:defRPr>
            </a:lvl6pPr>
            <a:lvl7pPr marL="2742994" indent="0" algn="ctr">
              <a:buNone/>
              <a:defRPr>
                <a:solidFill>
                  <a:schemeClr val="tx1">
                    <a:tint val="75000"/>
                  </a:schemeClr>
                </a:solidFill>
              </a:defRPr>
            </a:lvl7pPr>
            <a:lvl8pPr marL="3200160" indent="0" algn="ctr">
              <a:buNone/>
              <a:defRPr>
                <a:solidFill>
                  <a:schemeClr val="tx1">
                    <a:tint val="75000"/>
                  </a:schemeClr>
                </a:solidFill>
              </a:defRPr>
            </a:lvl8pPr>
            <a:lvl9pPr marL="3657327" indent="0" algn="ctr">
              <a:buNone/>
              <a:defRPr>
                <a:solidFill>
                  <a:schemeClr val="tx1">
                    <a:tint val="75000"/>
                  </a:schemeClr>
                </a:solidFill>
              </a:defRPr>
            </a:lvl9pPr>
          </a:lstStyle>
          <a:p>
            <a:r>
              <a:rPr lang="en-GB" noProof="0" dirty="0"/>
              <a:t>Click to edit Master subtitle style</a:t>
            </a:r>
          </a:p>
        </p:txBody>
      </p:sp>
    </p:spTree>
    <p:extLst>
      <p:ext uri="{BB962C8B-B14F-4D97-AF65-F5344CB8AC3E}">
        <p14:creationId xmlns:p14="http://schemas.microsoft.com/office/powerpoint/2010/main" val="1697744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noProof="0"/>
              <a:t>Click to edit Master title style</a:t>
            </a:r>
            <a:endParaRPr lang="en-GB" noProof="0" dirty="0"/>
          </a:p>
        </p:txBody>
      </p:sp>
      <p:sp>
        <p:nvSpPr>
          <p:cNvPr id="5" name="Content Placeholder 4"/>
          <p:cNvSpPr>
            <a:spLocks noGrp="1"/>
          </p:cNvSpPr>
          <p:nvPr>
            <p:ph sz="quarter" idx="11"/>
          </p:nvPr>
        </p:nvSpPr>
        <p:spPr>
          <a:xfrm>
            <a:off x="309600" y="2109600"/>
            <a:ext cx="8492400" cy="4071600"/>
          </a:xfrm>
        </p:spPr>
        <p:txBody>
          <a:bodyPr/>
          <a:lstStyle>
            <a:lvl1pPr>
              <a:lnSpc>
                <a:spcPct val="100000"/>
              </a:lnSpc>
              <a:buClr>
                <a:schemeClr val="tx1"/>
              </a:buClr>
              <a:defRPr/>
            </a:lvl1pPr>
            <a:lvl2pPr marL="269980" indent="-269980">
              <a:lnSpc>
                <a:spcPct val="100000"/>
              </a:lnSpc>
              <a:buClr>
                <a:schemeClr val="tx1"/>
              </a:buClr>
              <a:buFont typeface="Arial" panose="020B0604020202020204" pitchFamily="34" charset="0"/>
              <a:buChar char="&gt;"/>
              <a:defRPr/>
            </a:lvl2pPr>
            <a:lvl3pPr marL="539711" indent="-269980">
              <a:lnSpc>
                <a:spcPct val="100000"/>
              </a:lnSpc>
              <a:buClr>
                <a:schemeClr val="tx1"/>
              </a:buClr>
              <a:buFont typeface="Arial" panose="020B0604020202020204" pitchFamily="34" charset="0"/>
              <a:buChar char="&gt;"/>
              <a:defRPr/>
            </a:lvl3pPr>
            <a:lvl4pPr marL="809940" indent="-269980">
              <a:lnSpc>
                <a:spcPct val="100000"/>
              </a:lnSpc>
              <a:buClr>
                <a:schemeClr val="tx1"/>
              </a:buClr>
              <a:buFont typeface="Arial" panose="020B0604020202020204" pitchFamily="34" charset="0"/>
              <a:buChar char="&gt;"/>
              <a:defRPr/>
            </a:lvl4pPr>
            <a:lvl5pPr marL="1081008" indent="-271443">
              <a:lnSpc>
                <a:spcPct val="100000"/>
              </a:lnSpc>
              <a:buClr>
                <a:schemeClr val="tx1"/>
              </a:buClr>
              <a:buFont typeface="Arial" panose="020B0604020202020204" pitchFamily="34" charset="0"/>
              <a:buChar char="&g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72928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noProof="0"/>
              <a:t>Click to edit Master title style</a:t>
            </a:r>
            <a:endParaRPr lang="en-GB" noProof="0" dirty="0"/>
          </a:p>
        </p:txBody>
      </p:sp>
    </p:spTree>
    <p:extLst>
      <p:ext uri="{BB962C8B-B14F-4D97-AF65-F5344CB8AC3E}">
        <p14:creationId xmlns:p14="http://schemas.microsoft.com/office/powerpoint/2010/main" val="1705313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8477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GB" noProof="0" dirty="0"/>
          </a:p>
        </p:txBody>
      </p:sp>
      <p:sp>
        <p:nvSpPr>
          <p:cNvPr id="4" name="Subtitle 2"/>
          <p:cNvSpPr>
            <a:spLocks noGrp="1"/>
          </p:cNvSpPr>
          <p:nvPr>
            <p:ph type="subTitle" idx="1"/>
          </p:nvPr>
        </p:nvSpPr>
        <p:spPr>
          <a:xfrm>
            <a:off x="309600" y="2109600"/>
            <a:ext cx="8492400" cy="1319400"/>
          </a:xfrm>
        </p:spPr>
        <p:txBody>
          <a:bodyPr lIns="360000">
            <a:normAutofit/>
          </a:bodyPr>
          <a:lstStyle>
            <a:lvl1pPr marL="0" indent="0" algn="l">
              <a:lnSpc>
                <a:spcPct val="100000"/>
              </a:lnSpc>
              <a:buNone/>
              <a:defRPr sz="2000">
                <a:solidFill>
                  <a:schemeClr val="tx1"/>
                </a:solidFill>
              </a:defRPr>
            </a:lvl1pPr>
            <a:lvl2pPr marL="457167" indent="0" algn="ctr">
              <a:buNone/>
              <a:defRPr>
                <a:solidFill>
                  <a:schemeClr val="tx1">
                    <a:tint val="75000"/>
                  </a:schemeClr>
                </a:solidFill>
              </a:defRPr>
            </a:lvl2pPr>
            <a:lvl3pPr marL="914332" indent="0" algn="ctr">
              <a:buNone/>
              <a:defRPr>
                <a:solidFill>
                  <a:schemeClr val="tx1">
                    <a:tint val="75000"/>
                  </a:schemeClr>
                </a:solidFill>
              </a:defRPr>
            </a:lvl3pPr>
            <a:lvl4pPr marL="1371498" indent="0" algn="ctr">
              <a:buNone/>
              <a:defRPr>
                <a:solidFill>
                  <a:schemeClr val="tx1">
                    <a:tint val="75000"/>
                  </a:schemeClr>
                </a:solidFill>
              </a:defRPr>
            </a:lvl4pPr>
            <a:lvl5pPr marL="1828664" indent="0" algn="ctr">
              <a:buNone/>
              <a:defRPr>
                <a:solidFill>
                  <a:schemeClr val="tx1">
                    <a:tint val="75000"/>
                  </a:schemeClr>
                </a:solidFill>
              </a:defRPr>
            </a:lvl5pPr>
            <a:lvl6pPr marL="2285830" indent="0" algn="ctr">
              <a:buNone/>
              <a:defRPr>
                <a:solidFill>
                  <a:schemeClr val="tx1">
                    <a:tint val="75000"/>
                  </a:schemeClr>
                </a:solidFill>
              </a:defRPr>
            </a:lvl6pPr>
            <a:lvl7pPr marL="2742994" indent="0" algn="ctr">
              <a:buNone/>
              <a:defRPr>
                <a:solidFill>
                  <a:schemeClr val="tx1">
                    <a:tint val="75000"/>
                  </a:schemeClr>
                </a:solidFill>
              </a:defRPr>
            </a:lvl7pPr>
            <a:lvl8pPr marL="3200160" indent="0" algn="ctr">
              <a:buNone/>
              <a:defRPr>
                <a:solidFill>
                  <a:schemeClr val="tx1">
                    <a:tint val="75000"/>
                  </a:schemeClr>
                </a:solidFill>
              </a:defRPr>
            </a:lvl8pPr>
            <a:lvl9pPr marL="3657327" indent="0" algn="ctr">
              <a:buNone/>
              <a:defRPr>
                <a:solidFill>
                  <a:schemeClr val="tx1">
                    <a:tint val="75000"/>
                  </a:schemeClr>
                </a:solidFill>
              </a:defRPr>
            </a:lvl9pPr>
          </a:lstStyle>
          <a:p>
            <a:r>
              <a:rPr lang="en-US" noProof="0"/>
              <a:t>Click to edit Master subtitle style</a:t>
            </a:r>
            <a:endParaRPr lang="en-GB" noProof="0" dirty="0"/>
          </a:p>
        </p:txBody>
      </p:sp>
    </p:spTree>
    <p:extLst>
      <p:ext uri="{BB962C8B-B14F-4D97-AF65-F5344CB8AC3E}">
        <p14:creationId xmlns:p14="http://schemas.microsoft.com/office/powerpoint/2010/main" val="11529139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9600" y="208801"/>
            <a:ext cx="8492400" cy="856800"/>
          </a:xfrm>
          <a:prstGeom prst="rect">
            <a:avLst/>
          </a:prstGeom>
        </p:spPr>
        <p:txBody>
          <a:bodyPr vert="horz" lIns="360000" tIns="45720" rIns="91440" bIns="45720" rtlCol="0" anchor="ctr">
            <a:normAutofit/>
          </a:bodyPr>
          <a:lstStyle/>
          <a:p>
            <a:r>
              <a:rPr lang="en-GB" noProof="0" dirty="0"/>
              <a:t>Click to edit Master title style</a:t>
            </a:r>
          </a:p>
        </p:txBody>
      </p:sp>
      <p:sp>
        <p:nvSpPr>
          <p:cNvPr id="3" name="Text Placeholder 2"/>
          <p:cNvSpPr>
            <a:spLocks noGrp="1"/>
          </p:cNvSpPr>
          <p:nvPr>
            <p:ph type="body" idx="1"/>
          </p:nvPr>
        </p:nvSpPr>
        <p:spPr>
          <a:xfrm>
            <a:off x="309600" y="2109601"/>
            <a:ext cx="8492400" cy="3992749"/>
          </a:xfrm>
          <a:prstGeom prst="rect">
            <a:avLst/>
          </a:prstGeom>
        </p:spPr>
        <p:txBody>
          <a:bodyPr vert="horz" lIns="360000" tIns="45720" rIns="91440" bIns="45720" rtlCol="0">
            <a:normAutofit/>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4" name="TextBox 33"/>
          <p:cNvSpPr txBox="1"/>
          <p:nvPr/>
        </p:nvSpPr>
        <p:spPr>
          <a:xfrm>
            <a:off x="6397200" y="6246000"/>
            <a:ext cx="2422800" cy="475200"/>
          </a:xfrm>
          <a:prstGeom prst="rect">
            <a:avLst/>
          </a:prstGeom>
          <a:noFill/>
          <a:ln>
            <a:noFill/>
          </a:ln>
        </p:spPr>
        <p:txBody>
          <a:bodyPr wrap="square" rtlCol="0">
            <a:noAutofit/>
          </a:bodyPr>
          <a:lstStyle/>
          <a:p>
            <a:pPr algn="r"/>
            <a:fld id="{4AF128E2-2701-4D68-A416-2CE5FC2DF8FF}" type="slidenum">
              <a:rPr lang="en-GB" sz="1000" smtClean="0"/>
              <a:t>‹#›</a:t>
            </a:fld>
            <a:endParaRPr lang="en-GB" sz="1000" dirty="0"/>
          </a:p>
        </p:txBody>
      </p:sp>
      <p:cxnSp>
        <p:nvCxnSpPr>
          <p:cNvPr id="13" name="Straight Connector 12">
            <a:extLst>
              <a:ext uri="{FF2B5EF4-FFF2-40B4-BE49-F238E27FC236}">
                <a16:creationId xmlns:a16="http://schemas.microsoft.com/office/drawing/2014/main" id="{CFC20E95-5752-4AB0-AB9E-A45B68D9E5C6}"/>
              </a:ext>
            </a:extLst>
          </p:cNvPr>
          <p:cNvCxnSpPr/>
          <p:nvPr userDrawn="1"/>
        </p:nvCxnSpPr>
        <p:spPr>
          <a:xfrm>
            <a:off x="323850" y="980728"/>
            <a:ext cx="847815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C9D899EF-CB58-4B06-9FCB-CBDAB8FE8368}"/>
              </a:ext>
            </a:extLst>
          </p:cNvPr>
          <p:cNvPicPr>
            <a:picLocks noChangeAspect="1"/>
          </p:cNvPicPr>
          <p:nvPr userDrawn="1"/>
        </p:nvPicPr>
        <p:blipFill>
          <a:blip r:embed="rId7"/>
          <a:stretch>
            <a:fillRect/>
          </a:stretch>
        </p:blipFill>
        <p:spPr>
          <a:xfrm>
            <a:off x="107504" y="6314031"/>
            <a:ext cx="1790950" cy="438211"/>
          </a:xfrm>
          <a:prstGeom prst="rect">
            <a:avLst/>
          </a:prstGeom>
        </p:spPr>
      </p:pic>
    </p:spTree>
    <p:extLst>
      <p:ext uri="{BB962C8B-B14F-4D97-AF65-F5344CB8AC3E}">
        <p14:creationId xmlns:p14="http://schemas.microsoft.com/office/powerpoint/2010/main" val="3929391857"/>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Lst>
  <p:hf sldNum="0" hdr="0" ftr="0" dt="0"/>
  <p:txStyles>
    <p:titleStyle>
      <a:lvl1pPr marL="0" indent="0" algn="l" defTabSz="914332" rtl="0" eaLnBrk="1" latinLnBrk="0" hangingPunct="1">
        <a:spcBef>
          <a:spcPct val="0"/>
        </a:spcBef>
        <a:buNone/>
        <a:defRPr sz="2400" kern="1200">
          <a:solidFill>
            <a:schemeClr val="tx1"/>
          </a:solidFill>
          <a:latin typeface="Arial" pitchFamily="34" charset="0"/>
          <a:ea typeface="+mj-ea"/>
          <a:cs typeface="Arial" pitchFamily="34" charset="0"/>
        </a:defRPr>
      </a:lvl1pPr>
    </p:titleStyle>
    <p:bodyStyle>
      <a:lvl1pPr marL="0" indent="0" algn="l" defTabSz="914332" rtl="0" eaLnBrk="1" latinLnBrk="0" hangingPunct="1">
        <a:lnSpc>
          <a:spcPct val="100000"/>
        </a:lnSpc>
        <a:spcBef>
          <a:spcPts val="0"/>
        </a:spcBef>
        <a:spcAft>
          <a:spcPts val="1200"/>
        </a:spcAft>
        <a:buClr>
          <a:schemeClr val="tx1"/>
        </a:buClr>
        <a:buFont typeface="Arial" pitchFamily="34" charset="0"/>
        <a:buNone/>
        <a:defRPr sz="2000" kern="1200">
          <a:solidFill>
            <a:schemeClr val="tx1"/>
          </a:solidFill>
          <a:latin typeface="Arial" pitchFamily="34" charset="0"/>
          <a:ea typeface="+mn-ea"/>
          <a:cs typeface="Arial" pitchFamily="34" charset="0"/>
        </a:defRPr>
      </a:lvl1pPr>
      <a:lvl2pPr marL="269855" indent="-269855" algn="l" defTabSz="914332" rtl="0" eaLnBrk="1" latinLnBrk="0" hangingPunct="1">
        <a:lnSpc>
          <a:spcPct val="100000"/>
        </a:lnSpc>
        <a:spcBef>
          <a:spcPts val="0"/>
        </a:spcBef>
        <a:spcAft>
          <a:spcPts val="1200"/>
        </a:spcAft>
        <a:buClr>
          <a:schemeClr val="tx1"/>
        </a:buClr>
        <a:buFont typeface="TradeGothic" pitchFamily="2" charset="0"/>
        <a:buChar char="&gt;"/>
        <a:defRPr sz="2000" kern="1200">
          <a:solidFill>
            <a:schemeClr val="tx1"/>
          </a:solidFill>
          <a:latin typeface="Arial" pitchFamily="34" charset="0"/>
          <a:ea typeface="+mn-ea"/>
          <a:cs typeface="Arial" pitchFamily="34" charset="0"/>
        </a:defRPr>
      </a:lvl2pPr>
      <a:lvl3pPr marL="539711" indent="-269855" algn="l" defTabSz="914332" rtl="0" eaLnBrk="1" latinLnBrk="0" hangingPunct="1">
        <a:lnSpc>
          <a:spcPct val="100000"/>
        </a:lnSpc>
        <a:spcBef>
          <a:spcPts val="0"/>
        </a:spcBef>
        <a:spcAft>
          <a:spcPts val="1200"/>
        </a:spcAft>
        <a:buClr>
          <a:schemeClr val="tx1"/>
        </a:buClr>
        <a:buFont typeface="TradeGothic" pitchFamily="2" charset="0"/>
        <a:buChar char="&gt;"/>
        <a:defRPr sz="2000" kern="1200">
          <a:solidFill>
            <a:schemeClr val="tx1"/>
          </a:solidFill>
          <a:latin typeface="Arial" pitchFamily="34" charset="0"/>
          <a:ea typeface="+mn-ea"/>
          <a:cs typeface="Arial" pitchFamily="34" charset="0"/>
        </a:defRPr>
      </a:lvl3pPr>
      <a:lvl4pPr marL="809940" indent="-269980" algn="l" defTabSz="914332" rtl="0" eaLnBrk="1" latinLnBrk="0" hangingPunct="1">
        <a:lnSpc>
          <a:spcPct val="100000"/>
        </a:lnSpc>
        <a:spcBef>
          <a:spcPts val="0"/>
        </a:spcBef>
        <a:spcAft>
          <a:spcPts val="1200"/>
        </a:spcAft>
        <a:buClr>
          <a:schemeClr val="tx1"/>
        </a:buClr>
        <a:buFont typeface="TradeGothic" pitchFamily="2" charset="0"/>
        <a:buChar char="&gt;"/>
        <a:defRPr sz="2000" kern="1200">
          <a:solidFill>
            <a:schemeClr val="tx1"/>
          </a:solidFill>
          <a:latin typeface="Arial" pitchFamily="34" charset="0"/>
          <a:ea typeface="+mn-ea"/>
          <a:cs typeface="Arial" pitchFamily="34" charset="0"/>
        </a:defRPr>
      </a:lvl4pPr>
      <a:lvl5pPr marL="1079920" indent="-269855" algn="l" defTabSz="914332" rtl="0" eaLnBrk="1" latinLnBrk="0" hangingPunct="1">
        <a:lnSpc>
          <a:spcPct val="100000"/>
        </a:lnSpc>
        <a:spcBef>
          <a:spcPts val="0"/>
        </a:spcBef>
        <a:spcAft>
          <a:spcPts val="1200"/>
        </a:spcAft>
        <a:buClr>
          <a:schemeClr val="tx1"/>
        </a:buClr>
        <a:buFont typeface="TradeGothic" pitchFamily="2" charset="0"/>
        <a:buChar char="&gt;"/>
        <a:defRPr sz="2000" kern="1200">
          <a:solidFill>
            <a:schemeClr val="tx1"/>
          </a:solidFill>
          <a:latin typeface="Arial" pitchFamily="34" charset="0"/>
          <a:ea typeface="+mn-ea"/>
          <a:cs typeface="Arial" pitchFamily="34" charset="0"/>
        </a:defRPr>
      </a:lvl5pPr>
      <a:lvl6pPr marL="2514412" indent="-228584" algn="l" defTabSz="91433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78" indent="-228584" algn="l" defTabSz="91433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44" indent="-228584" algn="l" defTabSz="91433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10" indent="-228584" algn="l" defTabSz="91433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42366B-00DA-4F72-A92E-9FA495C8281F}"/>
              </a:ext>
            </a:extLst>
          </p:cNvPr>
          <p:cNvSpPr txBox="1"/>
          <p:nvPr/>
        </p:nvSpPr>
        <p:spPr>
          <a:xfrm>
            <a:off x="251520" y="1052736"/>
            <a:ext cx="7344816" cy="523220"/>
          </a:xfrm>
          <a:prstGeom prst="rect">
            <a:avLst/>
          </a:prstGeom>
          <a:noFill/>
        </p:spPr>
        <p:txBody>
          <a:bodyPr wrap="square" rtlCol="0">
            <a:spAutoFit/>
          </a:bodyPr>
          <a:lstStyle/>
          <a:p>
            <a:r>
              <a:rPr lang="en-US" sz="2800" b="1" dirty="0">
                <a:solidFill>
                  <a:srgbClr val="C00000"/>
                </a:solidFill>
              </a:rPr>
              <a:t>Data Analysis: </a:t>
            </a:r>
            <a:r>
              <a:rPr lang="en-US" sz="2800" b="1" dirty="0"/>
              <a:t>Red Bull Account Sales</a:t>
            </a:r>
            <a:endParaRPr lang="en-US" sz="2800" dirty="0"/>
          </a:p>
        </p:txBody>
      </p:sp>
      <p:sp>
        <p:nvSpPr>
          <p:cNvPr id="4" name="TextBox 3">
            <a:extLst>
              <a:ext uri="{FF2B5EF4-FFF2-40B4-BE49-F238E27FC236}">
                <a16:creationId xmlns:a16="http://schemas.microsoft.com/office/drawing/2014/main" id="{A2246531-25BC-650B-4484-787CA3D8B2A8}"/>
              </a:ext>
            </a:extLst>
          </p:cNvPr>
          <p:cNvSpPr txBox="1"/>
          <p:nvPr/>
        </p:nvSpPr>
        <p:spPr>
          <a:xfrm>
            <a:off x="971600" y="2132856"/>
            <a:ext cx="7200800" cy="3046988"/>
          </a:xfrm>
          <a:prstGeom prst="rect">
            <a:avLst/>
          </a:prstGeom>
          <a:noFill/>
        </p:spPr>
        <p:txBody>
          <a:bodyPr wrap="square">
            <a:spAutoFit/>
          </a:bodyPr>
          <a:lstStyle/>
          <a:p>
            <a:r>
              <a:rPr lang="en-US" sz="2400" dirty="0"/>
              <a:t>Analyze Red Bull’s on-premise sales data from 2017–2021 to evaluate account performance across Bars, Restaurants, Nightclubs, and Event Venues. Identify sales trends, top and low-performing accounts, and measure the impact of product assortment and promotional programs on revenue. Deliver data-driven insights and recommendations to improve future sales growth.</a:t>
            </a:r>
          </a:p>
        </p:txBody>
      </p:sp>
    </p:spTree>
    <p:extLst>
      <p:ext uri="{BB962C8B-B14F-4D97-AF65-F5344CB8AC3E}">
        <p14:creationId xmlns:p14="http://schemas.microsoft.com/office/powerpoint/2010/main" val="137804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EEF0FE7-03EB-4F6C-AB4C-B106BB533DBD}"/>
              </a:ext>
            </a:extLst>
          </p:cNvPr>
          <p:cNvSpPr>
            <a:spLocks noGrp="1"/>
          </p:cNvSpPr>
          <p:nvPr>
            <p:ph type="title"/>
          </p:nvPr>
        </p:nvSpPr>
        <p:spPr>
          <a:xfrm>
            <a:off x="309600" y="116632"/>
            <a:ext cx="8492400" cy="856800"/>
          </a:xfrm>
        </p:spPr>
        <p:txBody>
          <a:bodyPr anchor="ctr">
            <a:normAutofit/>
          </a:bodyPr>
          <a:lstStyle/>
          <a:p>
            <a:r>
              <a:rPr lang="en-US" dirty="0"/>
              <a:t>Sales Growth by Account and Account Type </a:t>
            </a:r>
          </a:p>
        </p:txBody>
      </p:sp>
      <p:sp>
        <p:nvSpPr>
          <p:cNvPr id="8" name="TextBox 7">
            <a:extLst>
              <a:ext uri="{FF2B5EF4-FFF2-40B4-BE49-F238E27FC236}">
                <a16:creationId xmlns:a16="http://schemas.microsoft.com/office/drawing/2014/main" id="{BBC209E0-2229-44BE-AFA2-44178C3EF4E1}"/>
              </a:ext>
            </a:extLst>
          </p:cNvPr>
          <p:cNvSpPr txBox="1"/>
          <p:nvPr/>
        </p:nvSpPr>
        <p:spPr>
          <a:xfrm>
            <a:off x="539552" y="1095835"/>
            <a:ext cx="8262448" cy="338554"/>
          </a:xfrm>
          <a:prstGeom prst="rect">
            <a:avLst/>
          </a:prstGeom>
          <a:noFill/>
        </p:spPr>
        <p:txBody>
          <a:bodyPr wrap="square" rtlCol="0">
            <a:spAutoFit/>
          </a:bodyPr>
          <a:lstStyle/>
          <a:p>
            <a:r>
              <a:rPr lang="en-US" sz="1600" i="1" dirty="0"/>
              <a:t>Graph(s) of trends and data for sales by account and / or account type</a:t>
            </a:r>
          </a:p>
        </p:txBody>
      </p:sp>
      <p:graphicFrame>
        <p:nvGraphicFramePr>
          <p:cNvPr id="2" name="Chart 1">
            <a:extLst>
              <a:ext uri="{FF2B5EF4-FFF2-40B4-BE49-F238E27FC236}">
                <a16:creationId xmlns:a16="http://schemas.microsoft.com/office/drawing/2014/main" id="{BC5FD4DB-7C28-D1A7-BD2D-0AB40C99DC9D}"/>
              </a:ext>
            </a:extLst>
          </p:cNvPr>
          <p:cNvGraphicFramePr>
            <a:graphicFrameLocks/>
          </p:cNvGraphicFramePr>
          <p:nvPr>
            <p:extLst>
              <p:ext uri="{D42A27DB-BD31-4B8C-83A1-F6EECF244321}">
                <p14:modId xmlns:p14="http://schemas.microsoft.com/office/powerpoint/2010/main" val="591114316"/>
              </p:ext>
            </p:extLst>
          </p:nvPr>
        </p:nvGraphicFramePr>
        <p:xfrm>
          <a:off x="179512" y="1556791"/>
          <a:ext cx="4608512" cy="420537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2E2A68B8-CEC4-1E41-6860-D11C7614AAEF}"/>
              </a:ext>
            </a:extLst>
          </p:cNvPr>
          <p:cNvGraphicFramePr>
            <a:graphicFrameLocks/>
          </p:cNvGraphicFramePr>
          <p:nvPr>
            <p:extLst>
              <p:ext uri="{D42A27DB-BD31-4B8C-83A1-F6EECF244321}">
                <p14:modId xmlns:p14="http://schemas.microsoft.com/office/powerpoint/2010/main" val="1264989306"/>
              </p:ext>
            </p:extLst>
          </p:nvPr>
        </p:nvGraphicFramePr>
        <p:xfrm>
          <a:off x="4670776" y="1469168"/>
          <a:ext cx="4221704" cy="440810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20150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CB0E3-E47E-2441-AF3D-433DE08286F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F15629E-7A99-11B3-66BD-E39AD4DC96FE}"/>
              </a:ext>
            </a:extLst>
          </p:cNvPr>
          <p:cNvSpPr>
            <a:spLocks noGrp="1"/>
          </p:cNvSpPr>
          <p:nvPr>
            <p:ph type="title"/>
          </p:nvPr>
        </p:nvSpPr>
        <p:spPr>
          <a:xfrm>
            <a:off x="309600" y="116632"/>
            <a:ext cx="8492400" cy="856800"/>
          </a:xfrm>
        </p:spPr>
        <p:txBody>
          <a:bodyPr anchor="ctr">
            <a:normAutofit/>
          </a:bodyPr>
          <a:lstStyle/>
          <a:p>
            <a:r>
              <a:rPr lang="en-US" dirty="0"/>
              <a:t>Sales Growth by Account and Account Type </a:t>
            </a:r>
          </a:p>
        </p:txBody>
      </p:sp>
      <p:sp>
        <p:nvSpPr>
          <p:cNvPr id="8" name="TextBox 7">
            <a:extLst>
              <a:ext uri="{FF2B5EF4-FFF2-40B4-BE49-F238E27FC236}">
                <a16:creationId xmlns:a16="http://schemas.microsoft.com/office/drawing/2014/main" id="{AC16224F-17D9-2A93-471F-D5155BB3F7DA}"/>
              </a:ext>
            </a:extLst>
          </p:cNvPr>
          <p:cNvSpPr txBox="1"/>
          <p:nvPr/>
        </p:nvSpPr>
        <p:spPr>
          <a:xfrm>
            <a:off x="539552" y="1095835"/>
            <a:ext cx="8262448" cy="338554"/>
          </a:xfrm>
          <a:prstGeom prst="rect">
            <a:avLst/>
          </a:prstGeom>
          <a:noFill/>
        </p:spPr>
        <p:txBody>
          <a:bodyPr wrap="square" rtlCol="0">
            <a:spAutoFit/>
          </a:bodyPr>
          <a:lstStyle/>
          <a:p>
            <a:r>
              <a:rPr lang="en-US" sz="1600" i="1" dirty="0"/>
              <a:t>Graph(s) of trends and data for sales by account and / or account type</a:t>
            </a:r>
          </a:p>
        </p:txBody>
      </p:sp>
      <p:graphicFrame>
        <p:nvGraphicFramePr>
          <p:cNvPr id="4" name="Chart 3">
            <a:extLst>
              <a:ext uri="{FF2B5EF4-FFF2-40B4-BE49-F238E27FC236}">
                <a16:creationId xmlns:a16="http://schemas.microsoft.com/office/drawing/2014/main" id="{DCAD15B0-D5CB-4361-1FFB-B16C16BDBECD}"/>
              </a:ext>
            </a:extLst>
          </p:cNvPr>
          <p:cNvGraphicFramePr>
            <a:graphicFrameLocks/>
          </p:cNvGraphicFramePr>
          <p:nvPr>
            <p:extLst>
              <p:ext uri="{D42A27DB-BD31-4B8C-83A1-F6EECF244321}">
                <p14:modId xmlns:p14="http://schemas.microsoft.com/office/powerpoint/2010/main" val="3185441910"/>
              </p:ext>
            </p:extLst>
          </p:nvPr>
        </p:nvGraphicFramePr>
        <p:xfrm>
          <a:off x="153617" y="1536412"/>
          <a:ext cx="4490391" cy="40528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65835C6A-0D16-5669-7859-9A625F783184}"/>
              </a:ext>
            </a:extLst>
          </p:cNvPr>
          <p:cNvGraphicFramePr>
            <a:graphicFrameLocks/>
          </p:cNvGraphicFramePr>
          <p:nvPr>
            <p:extLst>
              <p:ext uri="{D42A27DB-BD31-4B8C-83A1-F6EECF244321}">
                <p14:modId xmlns:p14="http://schemas.microsoft.com/office/powerpoint/2010/main" val="3644130635"/>
              </p:ext>
            </p:extLst>
          </p:nvPr>
        </p:nvGraphicFramePr>
        <p:xfrm>
          <a:off x="4283968" y="1525832"/>
          <a:ext cx="4608512" cy="445141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79213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12132-9CEA-BC72-3C19-34EF63AF45A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5D8FA1D-F29F-829A-D9C0-AA9AAAC8EFDE}"/>
              </a:ext>
            </a:extLst>
          </p:cNvPr>
          <p:cNvSpPr>
            <a:spLocks noGrp="1"/>
          </p:cNvSpPr>
          <p:nvPr>
            <p:ph type="title"/>
          </p:nvPr>
        </p:nvSpPr>
        <p:spPr>
          <a:xfrm>
            <a:off x="309600" y="116632"/>
            <a:ext cx="8492400" cy="856800"/>
          </a:xfrm>
        </p:spPr>
        <p:txBody>
          <a:bodyPr anchor="ctr">
            <a:normAutofit/>
          </a:bodyPr>
          <a:lstStyle/>
          <a:p>
            <a:r>
              <a:rPr lang="en-US" dirty="0"/>
              <a:t>Sales Growth by Account Type </a:t>
            </a:r>
          </a:p>
        </p:txBody>
      </p:sp>
      <p:graphicFrame>
        <p:nvGraphicFramePr>
          <p:cNvPr id="2" name="Chart 1">
            <a:extLst>
              <a:ext uri="{FF2B5EF4-FFF2-40B4-BE49-F238E27FC236}">
                <a16:creationId xmlns:a16="http://schemas.microsoft.com/office/drawing/2014/main" id="{0DB847CF-5009-3699-BF91-D44757E83A80}"/>
              </a:ext>
            </a:extLst>
          </p:cNvPr>
          <p:cNvGraphicFramePr>
            <a:graphicFrameLocks/>
          </p:cNvGraphicFramePr>
          <p:nvPr>
            <p:extLst>
              <p:ext uri="{D42A27DB-BD31-4B8C-83A1-F6EECF244321}">
                <p14:modId xmlns:p14="http://schemas.microsoft.com/office/powerpoint/2010/main" val="1643629844"/>
              </p:ext>
            </p:extLst>
          </p:nvPr>
        </p:nvGraphicFramePr>
        <p:xfrm>
          <a:off x="1691680" y="1484784"/>
          <a:ext cx="6192688" cy="410445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80037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EEF0FE7-03EB-4F6C-AB4C-B106BB533DBD}"/>
              </a:ext>
            </a:extLst>
          </p:cNvPr>
          <p:cNvSpPr>
            <a:spLocks noGrp="1"/>
          </p:cNvSpPr>
          <p:nvPr>
            <p:ph type="title"/>
          </p:nvPr>
        </p:nvSpPr>
        <p:spPr>
          <a:xfrm>
            <a:off x="309600" y="123928"/>
            <a:ext cx="8492400" cy="856800"/>
          </a:xfrm>
        </p:spPr>
        <p:txBody>
          <a:bodyPr/>
          <a:lstStyle/>
          <a:p>
            <a:r>
              <a:rPr lang="en-US" dirty="0"/>
              <a:t>Best and Worst Performing Accounts by Account Type </a:t>
            </a:r>
            <a:br>
              <a:rPr lang="en-US" dirty="0"/>
            </a:br>
            <a:r>
              <a:rPr lang="en-US" dirty="0"/>
              <a:t>(5 Year CAGR)</a:t>
            </a:r>
          </a:p>
        </p:txBody>
      </p:sp>
      <p:graphicFrame>
        <p:nvGraphicFramePr>
          <p:cNvPr id="2" name="Table 2">
            <a:extLst>
              <a:ext uri="{FF2B5EF4-FFF2-40B4-BE49-F238E27FC236}">
                <a16:creationId xmlns:a16="http://schemas.microsoft.com/office/drawing/2014/main" id="{39BED1BA-1528-4F65-B2F1-CBF4568A01CC}"/>
              </a:ext>
            </a:extLst>
          </p:cNvPr>
          <p:cNvGraphicFramePr>
            <a:graphicFrameLocks noGrp="1"/>
          </p:cNvGraphicFramePr>
          <p:nvPr>
            <p:extLst>
              <p:ext uri="{D42A27DB-BD31-4B8C-83A1-F6EECF244321}">
                <p14:modId xmlns:p14="http://schemas.microsoft.com/office/powerpoint/2010/main" val="1078833675"/>
              </p:ext>
            </p:extLst>
          </p:nvPr>
        </p:nvGraphicFramePr>
        <p:xfrm>
          <a:off x="1547664" y="1410758"/>
          <a:ext cx="7254336" cy="1112520"/>
        </p:xfrm>
        <a:graphic>
          <a:graphicData uri="http://schemas.openxmlformats.org/drawingml/2006/table">
            <a:tbl>
              <a:tblPr firstRow="1" bandRow="1">
                <a:tableStyleId>{21E4AEA4-8DFA-4A89-87EB-49C32662AFE0}</a:tableStyleId>
              </a:tblPr>
              <a:tblGrid>
                <a:gridCol w="1813584">
                  <a:extLst>
                    <a:ext uri="{9D8B030D-6E8A-4147-A177-3AD203B41FA5}">
                      <a16:colId xmlns:a16="http://schemas.microsoft.com/office/drawing/2014/main" val="241334165"/>
                    </a:ext>
                  </a:extLst>
                </a:gridCol>
                <a:gridCol w="1813584">
                  <a:extLst>
                    <a:ext uri="{9D8B030D-6E8A-4147-A177-3AD203B41FA5}">
                      <a16:colId xmlns:a16="http://schemas.microsoft.com/office/drawing/2014/main" val="90931574"/>
                    </a:ext>
                  </a:extLst>
                </a:gridCol>
                <a:gridCol w="1813584">
                  <a:extLst>
                    <a:ext uri="{9D8B030D-6E8A-4147-A177-3AD203B41FA5}">
                      <a16:colId xmlns:a16="http://schemas.microsoft.com/office/drawing/2014/main" val="4258227894"/>
                    </a:ext>
                  </a:extLst>
                </a:gridCol>
                <a:gridCol w="1813584">
                  <a:extLst>
                    <a:ext uri="{9D8B030D-6E8A-4147-A177-3AD203B41FA5}">
                      <a16:colId xmlns:a16="http://schemas.microsoft.com/office/drawing/2014/main" val="1547353100"/>
                    </a:ext>
                  </a:extLst>
                </a:gridCol>
              </a:tblGrid>
              <a:tr h="370840">
                <a:tc>
                  <a:txBody>
                    <a:bodyPr/>
                    <a:lstStyle/>
                    <a:p>
                      <a:r>
                        <a:rPr lang="en-US" dirty="0"/>
                        <a:t>Bar</a:t>
                      </a:r>
                    </a:p>
                  </a:txBody>
                  <a:tcPr/>
                </a:tc>
                <a:tc>
                  <a:txBody>
                    <a:bodyPr/>
                    <a:lstStyle/>
                    <a:p>
                      <a:r>
                        <a:rPr lang="en-US" dirty="0"/>
                        <a:t>Restaurant</a:t>
                      </a:r>
                    </a:p>
                  </a:txBody>
                  <a:tcPr/>
                </a:tc>
                <a:tc>
                  <a:txBody>
                    <a:bodyPr/>
                    <a:lstStyle/>
                    <a:p>
                      <a:r>
                        <a:rPr lang="en-US" dirty="0"/>
                        <a:t>Club</a:t>
                      </a:r>
                    </a:p>
                  </a:txBody>
                  <a:tcPr/>
                </a:tc>
                <a:tc>
                  <a:txBody>
                    <a:bodyPr/>
                    <a:lstStyle/>
                    <a:p>
                      <a:r>
                        <a:rPr lang="en-US" dirty="0"/>
                        <a:t>Event Venue</a:t>
                      </a:r>
                    </a:p>
                  </a:txBody>
                  <a:tcPr/>
                </a:tc>
                <a:extLst>
                  <a:ext uri="{0D108BD9-81ED-4DB2-BD59-A6C34878D82A}">
                    <a16:rowId xmlns:a16="http://schemas.microsoft.com/office/drawing/2014/main" val="702891833"/>
                  </a:ext>
                </a:extLst>
              </a:tr>
              <a:tr h="370840">
                <a:tc>
                  <a:txBody>
                    <a:bodyPr/>
                    <a:lstStyle/>
                    <a:p>
                      <a:pPr marL="0" algn="l" defTabSz="914332" rtl="0" eaLnBrk="1" fontAlgn="b" latinLnBrk="0" hangingPunct="1">
                        <a:buNone/>
                      </a:pPr>
                      <a:r>
                        <a:rPr lang="en-US" sz="1800" b="0" kern="1200" dirty="0">
                          <a:solidFill>
                            <a:schemeClr val="tx1"/>
                          </a:solidFill>
                          <a:latin typeface="+mn-lt"/>
                          <a:ea typeface="+mn-ea"/>
                          <a:cs typeface="+mn-cs"/>
                        </a:rPr>
                        <a:t>Bar 13</a:t>
                      </a:r>
                    </a:p>
                  </a:txBody>
                  <a:tcPr marL="7620" marR="7620" marT="7620" marB="0" anchor="b"/>
                </a:tc>
                <a:tc>
                  <a:txBody>
                    <a:bodyPr/>
                    <a:lstStyle/>
                    <a:p>
                      <a:pPr marL="0" algn="l" defTabSz="914332" rtl="0" eaLnBrk="1" fontAlgn="b" latinLnBrk="0" hangingPunct="1">
                        <a:buNone/>
                      </a:pPr>
                      <a:r>
                        <a:rPr lang="en-US" sz="1800" b="0" kern="1200" dirty="0">
                          <a:solidFill>
                            <a:schemeClr val="tx1"/>
                          </a:solidFill>
                          <a:latin typeface="+mn-lt"/>
                          <a:ea typeface="+mn-ea"/>
                          <a:cs typeface="+mn-cs"/>
                        </a:rPr>
                        <a:t>Nightclub 2</a:t>
                      </a:r>
                    </a:p>
                  </a:txBody>
                  <a:tcPr marL="7620" marR="7620" marT="7620" marB="0" anchor="b"/>
                </a:tc>
                <a:tc>
                  <a:txBody>
                    <a:bodyPr/>
                    <a:lstStyle/>
                    <a:p>
                      <a:pPr marL="0" algn="l" defTabSz="914332" rtl="0" eaLnBrk="1" fontAlgn="b" latinLnBrk="0" hangingPunct="1">
                        <a:buNone/>
                      </a:pPr>
                      <a:r>
                        <a:rPr lang="en-US" sz="1800" b="0" kern="1200" dirty="0">
                          <a:solidFill>
                            <a:schemeClr val="tx1"/>
                          </a:solidFill>
                          <a:latin typeface="+mn-lt"/>
                          <a:ea typeface="+mn-ea"/>
                          <a:cs typeface="+mn-cs"/>
                        </a:rPr>
                        <a:t>Event Venue 11</a:t>
                      </a:r>
                    </a:p>
                  </a:txBody>
                  <a:tcPr marL="7620" marR="7620" marT="7620" marB="0" anchor="b"/>
                </a:tc>
                <a:tc>
                  <a:txBody>
                    <a:bodyPr/>
                    <a:lstStyle/>
                    <a:p>
                      <a:pPr marL="0" algn="l" defTabSz="914332" rtl="0" eaLnBrk="1" fontAlgn="b" latinLnBrk="0" hangingPunct="1">
                        <a:buNone/>
                      </a:pPr>
                      <a:r>
                        <a:rPr lang="en-US" sz="1800" b="0" kern="1200">
                          <a:solidFill>
                            <a:schemeClr val="tx1"/>
                          </a:solidFill>
                          <a:latin typeface="+mn-lt"/>
                          <a:ea typeface="+mn-ea"/>
                          <a:cs typeface="+mn-cs"/>
                        </a:rPr>
                        <a:t>Restaurant 5</a:t>
                      </a:r>
                    </a:p>
                  </a:txBody>
                  <a:tcPr marL="7620" marR="7620" marT="7620" marB="0" anchor="b"/>
                </a:tc>
                <a:extLst>
                  <a:ext uri="{0D108BD9-81ED-4DB2-BD59-A6C34878D82A}">
                    <a16:rowId xmlns:a16="http://schemas.microsoft.com/office/drawing/2014/main" val="588259681"/>
                  </a:ext>
                </a:extLst>
              </a:tr>
              <a:tr h="370840">
                <a:tc>
                  <a:txBody>
                    <a:bodyPr/>
                    <a:lstStyle/>
                    <a:p>
                      <a:pPr marL="0" algn="l" defTabSz="914332" rtl="0" eaLnBrk="1" fontAlgn="b" latinLnBrk="0" hangingPunct="1">
                        <a:buNone/>
                      </a:pPr>
                      <a:r>
                        <a:rPr lang="en-US" sz="1800" b="0" kern="1200">
                          <a:solidFill>
                            <a:schemeClr val="tx1"/>
                          </a:solidFill>
                          <a:latin typeface="+mn-lt"/>
                          <a:ea typeface="+mn-ea"/>
                          <a:cs typeface="+mn-cs"/>
                        </a:rPr>
                        <a:t>Bar 14</a:t>
                      </a:r>
                    </a:p>
                  </a:txBody>
                  <a:tcPr marL="7620" marR="7620" marT="7620" marB="0" anchor="b"/>
                </a:tc>
                <a:tc>
                  <a:txBody>
                    <a:bodyPr/>
                    <a:lstStyle/>
                    <a:p>
                      <a:pPr marL="0" algn="l" defTabSz="914332" rtl="0" eaLnBrk="1" fontAlgn="b" latinLnBrk="0" hangingPunct="1">
                        <a:buNone/>
                      </a:pPr>
                      <a:r>
                        <a:rPr lang="en-US" sz="1800" b="0" kern="1200">
                          <a:solidFill>
                            <a:schemeClr val="tx1"/>
                          </a:solidFill>
                          <a:latin typeface="+mn-lt"/>
                          <a:ea typeface="+mn-ea"/>
                          <a:cs typeface="+mn-cs"/>
                        </a:rPr>
                        <a:t>Nightclub 10</a:t>
                      </a:r>
                    </a:p>
                  </a:txBody>
                  <a:tcPr marL="7620" marR="7620" marT="7620" marB="0" anchor="b"/>
                </a:tc>
                <a:tc>
                  <a:txBody>
                    <a:bodyPr/>
                    <a:lstStyle/>
                    <a:p>
                      <a:pPr marL="0" algn="l" defTabSz="914332" rtl="0" eaLnBrk="1" fontAlgn="b" latinLnBrk="0" hangingPunct="1">
                        <a:buNone/>
                      </a:pPr>
                      <a:r>
                        <a:rPr lang="en-US" sz="1800" b="0" kern="1200" dirty="0">
                          <a:solidFill>
                            <a:schemeClr val="tx1"/>
                          </a:solidFill>
                          <a:latin typeface="+mn-lt"/>
                          <a:ea typeface="+mn-ea"/>
                          <a:cs typeface="+mn-cs"/>
                        </a:rPr>
                        <a:t>Event Venue 2</a:t>
                      </a:r>
                    </a:p>
                  </a:txBody>
                  <a:tcPr marL="7620" marR="7620" marT="7620" marB="0" anchor="b"/>
                </a:tc>
                <a:tc>
                  <a:txBody>
                    <a:bodyPr/>
                    <a:lstStyle/>
                    <a:p>
                      <a:pPr marL="0" algn="l" defTabSz="914332" rtl="0" eaLnBrk="1" fontAlgn="b" latinLnBrk="0" hangingPunct="1">
                        <a:buNone/>
                      </a:pPr>
                      <a:r>
                        <a:rPr lang="en-US" sz="1800" b="0" kern="1200" dirty="0">
                          <a:solidFill>
                            <a:schemeClr val="tx1"/>
                          </a:solidFill>
                          <a:latin typeface="+mn-lt"/>
                          <a:ea typeface="+mn-ea"/>
                          <a:cs typeface="+mn-cs"/>
                        </a:rPr>
                        <a:t>Restaurant 12</a:t>
                      </a:r>
                    </a:p>
                  </a:txBody>
                  <a:tcPr marL="7620" marR="7620" marT="7620" marB="0" anchor="b"/>
                </a:tc>
                <a:extLst>
                  <a:ext uri="{0D108BD9-81ED-4DB2-BD59-A6C34878D82A}">
                    <a16:rowId xmlns:a16="http://schemas.microsoft.com/office/drawing/2014/main" val="3277665397"/>
                  </a:ext>
                </a:extLst>
              </a:tr>
            </a:tbl>
          </a:graphicData>
        </a:graphic>
      </p:graphicFrame>
      <p:graphicFrame>
        <p:nvGraphicFramePr>
          <p:cNvPr id="4" name="Table 2">
            <a:extLst>
              <a:ext uri="{FF2B5EF4-FFF2-40B4-BE49-F238E27FC236}">
                <a16:creationId xmlns:a16="http://schemas.microsoft.com/office/drawing/2014/main" id="{500FE621-EEC2-4BA2-B541-9597644B792B}"/>
              </a:ext>
            </a:extLst>
          </p:cNvPr>
          <p:cNvGraphicFramePr>
            <a:graphicFrameLocks noGrp="1"/>
          </p:cNvGraphicFramePr>
          <p:nvPr>
            <p:extLst>
              <p:ext uri="{D42A27DB-BD31-4B8C-83A1-F6EECF244321}">
                <p14:modId xmlns:p14="http://schemas.microsoft.com/office/powerpoint/2010/main" val="3779963503"/>
              </p:ext>
            </p:extLst>
          </p:nvPr>
        </p:nvGraphicFramePr>
        <p:xfrm>
          <a:off x="1547664" y="3139776"/>
          <a:ext cx="7254336" cy="1112520"/>
        </p:xfrm>
        <a:graphic>
          <a:graphicData uri="http://schemas.openxmlformats.org/drawingml/2006/table">
            <a:tbl>
              <a:tblPr firstRow="1" bandRow="1">
                <a:tableStyleId>{21E4AEA4-8DFA-4A89-87EB-49C32662AFE0}</a:tableStyleId>
              </a:tblPr>
              <a:tblGrid>
                <a:gridCol w="1813584">
                  <a:extLst>
                    <a:ext uri="{9D8B030D-6E8A-4147-A177-3AD203B41FA5}">
                      <a16:colId xmlns:a16="http://schemas.microsoft.com/office/drawing/2014/main" val="241334165"/>
                    </a:ext>
                  </a:extLst>
                </a:gridCol>
                <a:gridCol w="1813584">
                  <a:extLst>
                    <a:ext uri="{9D8B030D-6E8A-4147-A177-3AD203B41FA5}">
                      <a16:colId xmlns:a16="http://schemas.microsoft.com/office/drawing/2014/main" val="90931574"/>
                    </a:ext>
                  </a:extLst>
                </a:gridCol>
                <a:gridCol w="1813584">
                  <a:extLst>
                    <a:ext uri="{9D8B030D-6E8A-4147-A177-3AD203B41FA5}">
                      <a16:colId xmlns:a16="http://schemas.microsoft.com/office/drawing/2014/main" val="4258227894"/>
                    </a:ext>
                  </a:extLst>
                </a:gridCol>
                <a:gridCol w="1813584">
                  <a:extLst>
                    <a:ext uri="{9D8B030D-6E8A-4147-A177-3AD203B41FA5}">
                      <a16:colId xmlns:a16="http://schemas.microsoft.com/office/drawing/2014/main" val="1547353100"/>
                    </a:ext>
                  </a:extLst>
                </a:gridCol>
              </a:tblGrid>
              <a:tr h="370840">
                <a:tc>
                  <a:txBody>
                    <a:bodyPr/>
                    <a:lstStyle/>
                    <a:p>
                      <a:r>
                        <a:rPr lang="en-US" dirty="0"/>
                        <a:t>Bar</a:t>
                      </a:r>
                    </a:p>
                  </a:txBody>
                  <a:tcPr/>
                </a:tc>
                <a:tc>
                  <a:txBody>
                    <a:bodyPr/>
                    <a:lstStyle/>
                    <a:p>
                      <a:r>
                        <a:rPr lang="en-US" dirty="0"/>
                        <a:t>Restaurant</a:t>
                      </a:r>
                    </a:p>
                  </a:txBody>
                  <a:tcPr/>
                </a:tc>
                <a:tc>
                  <a:txBody>
                    <a:bodyPr/>
                    <a:lstStyle/>
                    <a:p>
                      <a:r>
                        <a:rPr lang="en-US" dirty="0"/>
                        <a:t>Club</a:t>
                      </a:r>
                    </a:p>
                  </a:txBody>
                  <a:tcPr/>
                </a:tc>
                <a:tc>
                  <a:txBody>
                    <a:bodyPr/>
                    <a:lstStyle/>
                    <a:p>
                      <a:r>
                        <a:rPr lang="en-US" dirty="0"/>
                        <a:t>Event Venue</a:t>
                      </a:r>
                    </a:p>
                  </a:txBody>
                  <a:tcPr/>
                </a:tc>
                <a:extLst>
                  <a:ext uri="{0D108BD9-81ED-4DB2-BD59-A6C34878D82A}">
                    <a16:rowId xmlns:a16="http://schemas.microsoft.com/office/drawing/2014/main" val="702891833"/>
                  </a:ext>
                </a:extLst>
              </a:tr>
              <a:tr h="370840">
                <a:tc>
                  <a:txBody>
                    <a:bodyPr/>
                    <a:lstStyle/>
                    <a:p>
                      <a:pPr algn="l" fontAlgn="b">
                        <a:buNone/>
                      </a:pPr>
                      <a:r>
                        <a:rPr lang="en-US" sz="1800" b="0" i="0" u="none" strike="noStrike" dirty="0">
                          <a:solidFill>
                            <a:srgbClr val="000000"/>
                          </a:solidFill>
                          <a:effectLst/>
                          <a:latin typeface="+mj-lt"/>
                        </a:rPr>
                        <a:t>Bar 15</a:t>
                      </a:r>
                    </a:p>
                  </a:txBody>
                  <a:tcPr marL="7620" marR="7620" marT="7620" marB="0" anchor="b"/>
                </a:tc>
                <a:tc>
                  <a:txBody>
                    <a:bodyPr/>
                    <a:lstStyle/>
                    <a:p>
                      <a:pPr algn="l" fontAlgn="b">
                        <a:buNone/>
                      </a:pPr>
                      <a:r>
                        <a:rPr lang="en-US" sz="1800" b="0" i="0" u="none" strike="noStrike">
                          <a:solidFill>
                            <a:srgbClr val="000000"/>
                          </a:solidFill>
                          <a:effectLst/>
                          <a:latin typeface="+mj-lt"/>
                        </a:rPr>
                        <a:t>Nightclub 8</a:t>
                      </a:r>
                    </a:p>
                  </a:txBody>
                  <a:tcPr marL="7620" marR="7620" marT="7620" marB="0" anchor="b"/>
                </a:tc>
                <a:tc>
                  <a:txBody>
                    <a:bodyPr/>
                    <a:lstStyle/>
                    <a:p>
                      <a:pPr algn="l" fontAlgn="b">
                        <a:buNone/>
                      </a:pPr>
                      <a:r>
                        <a:rPr lang="en-US" sz="1800" b="0" i="0" u="none" strike="noStrike">
                          <a:solidFill>
                            <a:srgbClr val="000000"/>
                          </a:solidFill>
                          <a:effectLst/>
                          <a:latin typeface="+mj-lt"/>
                        </a:rPr>
                        <a:t>Event Venue 4</a:t>
                      </a:r>
                    </a:p>
                  </a:txBody>
                  <a:tcPr marL="7620" marR="7620" marT="7620" marB="0" anchor="b"/>
                </a:tc>
                <a:tc>
                  <a:txBody>
                    <a:bodyPr/>
                    <a:lstStyle/>
                    <a:p>
                      <a:pPr algn="l" fontAlgn="b">
                        <a:buNone/>
                      </a:pPr>
                      <a:r>
                        <a:rPr lang="en-US" sz="1800" b="0" i="0" u="none" strike="noStrike">
                          <a:solidFill>
                            <a:srgbClr val="000000"/>
                          </a:solidFill>
                          <a:effectLst/>
                          <a:latin typeface="+mj-lt"/>
                        </a:rPr>
                        <a:t>Restaurant 11</a:t>
                      </a:r>
                    </a:p>
                  </a:txBody>
                  <a:tcPr marL="7620" marR="7620" marT="7620" marB="0" anchor="b"/>
                </a:tc>
                <a:extLst>
                  <a:ext uri="{0D108BD9-81ED-4DB2-BD59-A6C34878D82A}">
                    <a16:rowId xmlns:a16="http://schemas.microsoft.com/office/drawing/2014/main" val="588259681"/>
                  </a:ext>
                </a:extLst>
              </a:tr>
              <a:tr h="370840">
                <a:tc>
                  <a:txBody>
                    <a:bodyPr/>
                    <a:lstStyle/>
                    <a:p>
                      <a:pPr algn="l" fontAlgn="b">
                        <a:buNone/>
                      </a:pPr>
                      <a:r>
                        <a:rPr lang="en-US" sz="1800" b="0" i="0" u="none" strike="noStrike">
                          <a:solidFill>
                            <a:srgbClr val="000000"/>
                          </a:solidFill>
                          <a:effectLst/>
                          <a:latin typeface="+mj-lt"/>
                        </a:rPr>
                        <a:t>Bar 7</a:t>
                      </a:r>
                    </a:p>
                  </a:txBody>
                  <a:tcPr marL="7620" marR="7620" marT="7620" marB="0" anchor="b"/>
                </a:tc>
                <a:tc>
                  <a:txBody>
                    <a:bodyPr/>
                    <a:lstStyle/>
                    <a:p>
                      <a:pPr algn="l" fontAlgn="b">
                        <a:buNone/>
                      </a:pPr>
                      <a:r>
                        <a:rPr lang="en-US" sz="1800" b="0" i="0" u="none" strike="noStrike">
                          <a:solidFill>
                            <a:srgbClr val="000000"/>
                          </a:solidFill>
                          <a:effectLst/>
                          <a:latin typeface="+mj-lt"/>
                        </a:rPr>
                        <a:t>Nightclub 11</a:t>
                      </a:r>
                    </a:p>
                  </a:txBody>
                  <a:tcPr marL="7620" marR="7620" marT="7620" marB="0" anchor="b"/>
                </a:tc>
                <a:tc>
                  <a:txBody>
                    <a:bodyPr/>
                    <a:lstStyle/>
                    <a:p>
                      <a:pPr algn="l" fontAlgn="b">
                        <a:buNone/>
                      </a:pPr>
                      <a:r>
                        <a:rPr lang="en-US" sz="1800" b="0" i="0" u="none" strike="noStrike">
                          <a:solidFill>
                            <a:srgbClr val="000000"/>
                          </a:solidFill>
                          <a:effectLst/>
                          <a:latin typeface="+mj-lt"/>
                        </a:rPr>
                        <a:t>Event Venue 1</a:t>
                      </a:r>
                    </a:p>
                  </a:txBody>
                  <a:tcPr marL="7620" marR="7620" marT="7620" marB="0" anchor="b"/>
                </a:tc>
                <a:tc>
                  <a:txBody>
                    <a:bodyPr/>
                    <a:lstStyle/>
                    <a:p>
                      <a:pPr algn="l" fontAlgn="b">
                        <a:buNone/>
                      </a:pPr>
                      <a:r>
                        <a:rPr lang="en-US" sz="1800" b="0" i="0" u="none" strike="noStrike" dirty="0">
                          <a:solidFill>
                            <a:srgbClr val="000000"/>
                          </a:solidFill>
                          <a:effectLst/>
                          <a:latin typeface="+mj-lt"/>
                        </a:rPr>
                        <a:t>Restaurant 8</a:t>
                      </a:r>
                    </a:p>
                  </a:txBody>
                  <a:tcPr marL="7620" marR="7620" marT="7620" marB="0" anchor="b"/>
                </a:tc>
                <a:extLst>
                  <a:ext uri="{0D108BD9-81ED-4DB2-BD59-A6C34878D82A}">
                    <a16:rowId xmlns:a16="http://schemas.microsoft.com/office/drawing/2014/main" val="3277665397"/>
                  </a:ext>
                </a:extLst>
              </a:tr>
            </a:tbl>
          </a:graphicData>
        </a:graphic>
      </p:graphicFrame>
      <p:sp>
        <p:nvSpPr>
          <p:cNvPr id="3" name="TextBox 2">
            <a:extLst>
              <a:ext uri="{FF2B5EF4-FFF2-40B4-BE49-F238E27FC236}">
                <a16:creationId xmlns:a16="http://schemas.microsoft.com/office/drawing/2014/main" id="{4995D19B-1891-4D63-8DBF-893951BED43B}"/>
              </a:ext>
            </a:extLst>
          </p:cNvPr>
          <p:cNvSpPr txBox="1"/>
          <p:nvPr/>
        </p:nvSpPr>
        <p:spPr>
          <a:xfrm>
            <a:off x="248580" y="1484784"/>
            <a:ext cx="1512168" cy="646331"/>
          </a:xfrm>
          <a:prstGeom prst="rect">
            <a:avLst/>
          </a:prstGeom>
          <a:noFill/>
        </p:spPr>
        <p:txBody>
          <a:bodyPr wrap="square" rtlCol="0">
            <a:spAutoFit/>
          </a:bodyPr>
          <a:lstStyle/>
          <a:p>
            <a:r>
              <a:rPr lang="en-US" dirty="0"/>
              <a:t>Top 2 Accounts</a:t>
            </a:r>
          </a:p>
        </p:txBody>
      </p:sp>
      <p:sp>
        <p:nvSpPr>
          <p:cNvPr id="6" name="TextBox 5">
            <a:extLst>
              <a:ext uri="{FF2B5EF4-FFF2-40B4-BE49-F238E27FC236}">
                <a16:creationId xmlns:a16="http://schemas.microsoft.com/office/drawing/2014/main" id="{CBD67694-2FBE-4D05-81CF-2CE5E73390F6}"/>
              </a:ext>
            </a:extLst>
          </p:cNvPr>
          <p:cNvSpPr txBox="1"/>
          <p:nvPr/>
        </p:nvSpPr>
        <p:spPr>
          <a:xfrm>
            <a:off x="251520" y="3117405"/>
            <a:ext cx="1512168" cy="646331"/>
          </a:xfrm>
          <a:prstGeom prst="rect">
            <a:avLst/>
          </a:prstGeom>
          <a:noFill/>
        </p:spPr>
        <p:txBody>
          <a:bodyPr wrap="square" rtlCol="0">
            <a:spAutoFit/>
          </a:bodyPr>
          <a:lstStyle/>
          <a:p>
            <a:r>
              <a:rPr lang="en-US" dirty="0"/>
              <a:t>Bottom 2 Accounts</a:t>
            </a:r>
          </a:p>
        </p:txBody>
      </p:sp>
    </p:spTree>
    <p:extLst>
      <p:ext uri="{BB962C8B-B14F-4D97-AF65-F5344CB8AC3E}">
        <p14:creationId xmlns:p14="http://schemas.microsoft.com/office/powerpoint/2010/main" val="3561975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EEF0FE7-03EB-4F6C-AB4C-B106BB533DBD}"/>
              </a:ext>
            </a:extLst>
          </p:cNvPr>
          <p:cNvSpPr>
            <a:spLocks noGrp="1"/>
          </p:cNvSpPr>
          <p:nvPr>
            <p:ph type="title"/>
          </p:nvPr>
        </p:nvSpPr>
        <p:spPr/>
        <p:txBody>
          <a:bodyPr/>
          <a:lstStyle/>
          <a:p>
            <a:r>
              <a:rPr lang="en-US" dirty="0"/>
              <a:t>Total Sales by Account Type and Year</a:t>
            </a:r>
          </a:p>
        </p:txBody>
      </p:sp>
      <p:sp>
        <p:nvSpPr>
          <p:cNvPr id="7" name="TextBox 6">
            <a:extLst>
              <a:ext uri="{FF2B5EF4-FFF2-40B4-BE49-F238E27FC236}">
                <a16:creationId xmlns:a16="http://schemas.microsoft.com/office/drawing/2014/main" id="{88CE299E-FE86-4493-A9D5-066932F182EC}"/>
              </a:ext>
            </a:extLst>
          </p:cNvPr>
          <p:cNvSpPr txBox="1"/>
          <p:nvPr/>
        </p:nvSpPr>
        <p:spPr>
          <a:xfrm>
            <a:off x="361962" y="1053669"/>
            <a:ext cx="8262448" cy="338554"/>
          </a:xfrm>
          <a:prstGeom prst="rect">
            <a:avLst/>
          </a:prstGeom>
          <a:noFill/>
        </p:spPr>
        <p:txBody>
          <a:bodyPr wrap="square" rtlCol="0">
            <a:spAutoFit/>
          </a:bodyPr>
          <a:lstStyle/>
          <a:p>
            <a:r>
              <a:rPr lang="en-US" sz="1600" i="1" dirty="0"/>
              <a:t>Graph(s) of trends and data for total sales by account type and year…</a:t>
            </a:r>
          </a:p>
        </p:txBody>
      </p:sp>
      <p:graphicFrame>
        <p:nvGraphicFramePr>
          <p:cNvPr id="2" name="Chart 1">
            <a:extLst>
              <a:ext uri="{FF2B5EF4-FFF2-40B4-BE49-F238E27FC236}">
                <a16:creationId xmlns:a16="http://schemas.microsoft.com/office/drawing/2014/main" id="{1ABD5785-B54E-ACF9-EC9D-485DF9FEA901}"/>
              </a:ext>
            </a:extLst>
          </p:cNvPr>
          <p:cNvGraphicFramePr>
            <a:graphicFrameLocks/>
          </p:cNvGraphicFramePr>
          <p:nvPr>
            <p:extLst>
              <p:ext uri="{D42A27DB-BD31-4B8C-83A1-F6EECF244321}">
                <p14:modId xmlns:p14="http://schemas.microsoft.com/office/powerpoint/2010/main" val="2849797536"/>
              </p:ext>
            </p:extLst>
          </p:nvPr>
        </p:nvGraphicFramePr>
        <p:xfrm>
          <a:off x="1838018" y="1392223"/>
          <a:ext cx="5310336" cy="3459832"/>
        </p:xfrm>
        <a:graphic>
          <a:graphicData uri="http://schemas.openxmlformats.org/drawingml/2006/chart">
            <c:chart xmlns:c="http://schemas.openxmlformats.org/drawingml/2006/chart" xmlns:r="http://schemas.openxmlformats.org/officeDocument/2006/relationships" r:id="rId3"/>
          </a:graphicData>
        </a:graphic>
      </p:graphicFrame>
      <p:pic>
        <p:nvPicPr>
          <p:cNvPr id="6" name="Picture 5">
            <a:extLst>
              <a:ext uri="{FF2B5EF4-FFF2-40B4-BE49-F238E27FC236}">
                <a16:creationId xmlns:a16="http://schemas.microsoft.com/office/drawing/2014/main" id="{C2C482D5-5C0C-5F40-78A5-7385AAB07986}"/>
              </a:ext>
            </a:extLst>
          </p:cNvPr>
          <p:cNvPicPr>
            <a:picLocks noChangeAspect="1"/>
          </p:cNvPicPr>
          <p:nvPr/>
        </p:nvPicPr>
        <p:blipFill>
          <a:blip r:embed="rId4"/>
          <a:stretch>
            <a:fillRect/>
          </a:stretch>
        </p:blipFill>
        <p:spPr>
          <a:xfrm>
            <a:off x="1995646" y="4941168"/>
            <a:ext cx="5963482" cy="1381318"/>
          </a:xfrm>
          <a:prstGeom prst="rect">
            <a:avLst/>
          </a:prstGeom>
        </p:spPr>
      </p:pic>
    </p:spTree>
    <p:extLst>
      <p:ext uri="{BB962C8B-B14F-4D97-AF65-F5344CB8AC3E}">
        <p14:creationId xmlns:p14="http://schemas.microsoft.com/office/powerpoint/2010/main" val="3813571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0194A-3358-2FEF-D532-D150B40CF32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0675CBD-5686-B253-4E6A-E3113CCC4B7E}"/>
              </a:ext>
            </a:extLst>
          </p:cNvPr>
          <p:cNvSpPr>
            <a:spLocks noGrp="1"/>
          </p:cNvSpPr>
          <p:nvPr>
            <p:ph type="title"/>
          </p:nvPr>
        </p:nvSpPr>
        <p:spPr/>
        <p:txBody>
          <a:bodyPr/>
          <a:lstStyle/>
          <a:p>
            <a:r>
              <a:rPr lang="en-US" dirty="0"/>
              <a:t>Sales Growth/Trends by Year</a:t>
            </a:r>
          </a:p>
        </p:txBody>
      </p:sp>
      <p:sp>
        <p:nvSpPr>
          <p:cNvPr id="7" name="TextBox 6">
            <a:extLst>
              <a:ext uri="{FF2B5EF4-FFF2-40B4-BE49-F238E27FC236}">
                <a16:creationId xmlns:a16="http://schemas.microsoft.com/office/drawing/2014/main" id="{1612EA31-108F-494F-14D5-A8DE079ABF4C}"/>
              </a:ext>
            </a:extLst>
          </p:cNvPr>
          <p:cNvSpPr txBox="1"/>
          <p:nvPr/>
        </p:nvSpPr>
        <p:spPr>
          <a:xfrm>
            <a:off x="359640" y="1230862"/>
            <a:ext cx="8262448" cy="338554"/>
          </a:xfrm>
          <a:prstGeom prst="rect">
            <a:avLst/>
          </a:prstGeom>
          <a:noFill/>
        </p:spPr>
        <p:txBody>
          <a:bodyPr wrap="square" rtlCol="0">
            <a:spAutoFit/>
          </a:bodyPr>
          <a:lstStyle/>
          <a:p>
            <a:r>
              <a:rPr lang="en-US" sz="1600" i="1" dirty="0"/>
              <a:t>Graph(s) of trends and data for total sales by year</a:t>
            </a:r>
          </a:p>
        </p:txBody>
      </p:sp>
      <p:graphicFrame>
        <p:nvGraphicFramePr>
          <p:cNvPr id="3" name="Chart 2">
            <a:extLst>
              <a:ext uri="{FF2B5EF4-FFF2-40B4-BE49-F238E27FC236}">
                <a16:creationId xmlns:a16="http://schemas.microsoft.com/office/drawing/2014/main" id="{1F5B97F0-F61F-A450-1600-E365974A4633}"/>
              </a:ext>
            </a:extLst>
          </p:cNvPr>
          <p:cNvGraphicFramePr>
            <a:graphicFrameLocks/>
          </p:cNvGraphicFramePr>
          <p:nvPr>
            <p:extLst>
              <p:ext uri="{D42A27DB-BD31-4B8C-83A1-F6EECF244321}">
                <p14:modId xmlns:p14="http://schemas.microsoft.com/office/powerpoint/2010/main" val="2172587153"/>
              </p:ext>
            </p:extLst>
          </p:nvPr>
        </p:nvGraphicFramePr>
        <p:xfrm>
          <a:off x="1223628" y="1707039"/>
          <a:ext cx="6696744" cy="412052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70558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4E367-7F4B-E51E-AEB9-5C06F0F5563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02E136A-3934-21BF-7406-B0F53877CB2A}"/>
              </a:ext>
            </a:extLst>
          </p:cNvPr>
          <p:cNvSpPr>
            <a:spLocks noGrp="1"/>
          </p:cNvSpPr>
          <p:nvPr>
            <p:ph type="title"/>
          </p:nvPr>
        </p:nvSpPr>
        <p:spPr/>
        <p:txBody>
          <a:bodyPr/>
          <a:lstStyle/>
          <a:p>
            <a:r>
              <a:rPr lang="en-US" dirty="0"/>
              <a:t>Effect of Sugar Free Presence on Sales</a:t>
            </a:r>
          </a:p>
        </p:txBody>
      </p:sp>
      <p:graphicFrame>
        <p:nvGraphicFramePr>
          <p:cNvPr id="2" name="Chart 1">
            <a:extLst>
              <a:ext uri="{FF2B5EF4-FFF2-40B4-BE49-F238E27FC236}">
                <a16:creationId xmlns:a16="http://schemas.microsoft.com/office/drawing/2014/main" id="{311500F4-4453-E253-47AB-C02B35F77685}"/>
              </a:ext>
            </a:extLst>
          </p:cNvPr>
          <p:cNvGraphicFramePr>
            <a:graphicFrameLocks/>
          </p:cNvGraphicFramePr>
          <p:nvPr>
            <p:extLst>
              <p:ext uri="{D42A27DB-BD31-4B8C-83A1-F6EECF244321}">
                <p14:modId xmlns:p14="http://schemas.microsoft.com/office/powerpoint/2010/main" val="4115035666"/>
              </p:ext>
            </p:extLst>
          </p:nvPr>
        </p:nvGraphicFramePr>
        <p:xfrm>
          <a:off x="1619672" y="1556792"/>
          <a:ext cx="5400600" cy="410445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45298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1515B-547B-A9F4-2E56-5E25DEBB67C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4C1C1F6-DF56-25BC-4873-91F08ECCB0A9}"/>
              </a:ext>
            </a:extLst>
          </p:cNvPr>
          <p:cNvSpPr>
            <a:spLocks noGrp="1"/>
          </p:cNvSpPr>
          <p:nvPr>
            <p:ph type="title"/>
          </p:nvPr>
        </p:nvSpPr>
        <p:spPr/>
        <p:txBody>
          <a:bodyPr/>
          <a:lstStyle/>
          <a:p>
            <a:r>
              <a:rPr lang="en-US" dirty="0"/>
              <a:t>Effect of Yellow Edition on Sales</a:t>
            </a:r>
          </a:p>
        </p:txBody>
      </p:sp>
      <p:graphicFrame>
        <p:nvGraphicFramePr>
          <p:cNvPr id="2" name="Chart 1">
            <a:extLst>
              <a:ext uri="{FF2B5EF4-FFF2-40B4-BE49-F238E27FC236}">
                <a16:creationId xmlns:a16="http://schemas.microsoft.com/office/drawing/2014/main" id="{5D097CA4-9502-8B3B-72B4-D6CBF5B404B1}"/>
              </a:ext>
            </a:extLst>
          </p:cNvPr>
          <p:cNvGraphicFramePr>
            <a:graphicFrameLocks/>
          </p:cNvGraphicFramePr>
          <p:nvPr>
            <p:extLst>
              <p:ext uri="{D42A27DB-BD31-4B8C-83A1-F6EECF244321}">
                <p14:modId xmlns:p14="http://schemas.microsoft.com/office/powerpoint/2010/main" val="3486272403"/>
              </p:ext>
            </p:extLst>
          </p:nvPr>
        </p:nvGraphicFramePr>
        <p:xfrm>
          <a:off x="1907704" y="1483060"/>
          <a:ext cx="4996770" cy="38918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28498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9C37D-FAAD-11D9-0E0E-231F7DDF9F6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F51E0D5-B936-388B-3F35-D95593990728}"/>
              </a:ext>
            </a:extLst>
          </p:cNvPr>
          <p:cNvSpPr>
            <a:spLocks noGrp="1"/>
          </p:cNvSpPr>
          <p:nvPr>
            <p:ph type="title"/>
          </p:nvPr>
        </p:nvSpPr>
        <p:spPr>
          <a:xfrm>
            <a:off x="184056" y="116632"/>
            <a:ext cx="8492400" cy="856800"/>
          </a:xfrm>
        </p:spPr>
        <p:txBody>
          <a:bodyPr/>
          <a:lstStyle/>
          <a:p>
            <a:r>
              <a:rPr lang="en-US" dirty="0"/>
              <a:t>Effectiveness of the different Marketing/Promotions Program</a:t>
            </a:r>
          </a:p>
        </p:txBody>
      </p:sp>
      <p:graphicFrame>
        <p:nvGraphicFramePr>
          <p:cNvPr id="3" name="Chart 2">
            <a:extLst>
              <a:ext uri="{FF2B5EF4-FFF2-40B4-BE49-F238E27FC236}">
                <a16:creationId xmlns:a16="http://schemas.microsoft.com/office/drawing/2014/main" id="{7DE01127-63C8-0C36-1EE0-7149D2D83B57}"/>
              </a:ext>
            </a:extLst>
          </p:cNvPr>
          <p:cNvGraphicFramePr>
            <a:graphicFrameLocks/>
          </p:cNvGraphicFramePr>
          <p:nvPr>
            <p:extLst>
              <p:ext uri="{D42A27DB-BD31-4B8C-83A1-F6EECF244321}">
                <p14:modId xmlns:p14="http://schemas.microsoft.com/office/powerpoint/2010/main" val="70178665"/>
              </p:ext>
            </p:extLst>
          </p:nvPr>
        </p:nvGraphicFramePr>
        <p:xfrm>
          <a:off x="184056" y="1499234"/>
          <a:ext cx="8636416" cy="3729966"/>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89BA2D27-DD2A-2378-3A4E-79FCD913FC77}"/>
              </a:ext>
            </a:extLst>
          </p:cNvPr>
          <p:cNvSpPr txBox="1"/>
          <p:nvPr/>
        </p:nvSpPr>
        <p:spPr>
          <a:xfrm>
            <a:off x="251520" y="1098780"/>
            <a:ext cx="5328592" cy="369332"/>
          </a:xfrm>
          <a:prstGeom prst="rect">
            <a:avLst/>
          </a:prstGeom>
          <a:noFill/>
        </p:spPr>
        <p:txBody>
          <a:bodyPr wrap="square">
            <a:spAutoFit/>
          </a:bodyPr>
          <a:lstStyle/>
          <a:p>
            <a:r>
              <a:rPr lang="en-US" dirty="0">
                <a:solidFill>
                  <a:srgbClr val="000000"/>
                </a:solidFill>
                <a:latin typeface="Calibri" panose="020F0502020204030204" pitchFamily="34" charset="0"/>
              </a:rPr>
              <a:t>Menu inclusion, </a:t>
            </a:r>
            <a:r>
              <a:rPr lang="en-US" sz="1800" i="0" u="none" strike="noStrike" dirty="0">
                <a:solidFill>
                  <a:srgbClr val="000000"/>
                </a:solidFill>
                <a:effectLst/>
                <a:latin typeface="Calibri" panose="020F0502020204030204" pitchFamily="34" charset="0"/>
              </a:rPr>
              <a:t>Cooler, Digital screen, Posters</a:t>
            </a:r>
            <a:r>
              <a:rPr lang="en-US" dirty="0">
                <a:effectLst/>
              </a:rPr>
              <a:t> </a:t>
            </a:r>
            <a:endParaRPr lang="en-US" dirty="0"/>
          </a:p>
        </p:txBody>
      </p:sp>
      <p:sp>
        <p:nvSpPr>
          <p:cNvPr id="8" name="TextBox 7">
            <a:extLst>
              <a:ext uri="{FF2B5EF4-FFF2-40B4-BE49-F238E27FC236}">
                <a16:creationId xmlns:a16="http://schemas.microsoft.com/office/drawing/2014/main" id="{AC60585C-CBAE-C258-25B8-0719AD36F4FE}"/>
              </a:ext>
            </a:extLst>
          </p:cNvPr>
          <p:cNvSpPr txBox="1"/>
          <p:nvPr/>
        </p:nvSpPr>
        <p:spPr>
          <a:xfrm>
            <a:off x="899592" y="5157192"/>
            <a:ext cx="7488832" cy="954107"/>
          </a:xfrm>
          <a:prstGeom prst="rect">
            <a:avLst/>
          </a:prstGeom>
          <a:noFill/>
        </p:spPr>
        <p:txBody>
          <a:bodyPr wrap="square">
            <a:spAutoFit/>
          </a:bodyPr>
          <a:lstStyle/>
          <a:p>
            <a:r>
              <a:rPr lang="en-US" sz="1400" dirty="0"/>
              <a:t>From this chart we can understand that even thought there is no marketing/promotions, the sales have been highest.</a:t>
            </a:r>
          </a:p>
          <a:p>
            <a:r>
              <a:rPr lang="en-US" sz="1400" dirty="0"/>
              <a:t>Also considering individual marketing/promotions, we can see that the accounts with menu inclusion performs better than other marketing strategies.</a:t>
            </a:r>
          </a:p>
        </p:txBody>
      </p:sp>
    </p:spTree>
    <p:extLst>
      <p:ext uri="{BB962C8B-B14F-4D97-AF65-F5344CB8AC3E}">
        <p14:creationId xmlns:p14="http://schemas.microsoft.com/office/powerpoint/2010/main" val="288124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EEF0FE7-03EB-4F6C-AB4C-B106BB533DBD}"/>
              </a:ext>
            </a:extLst>
          </p:cNvPr>
          <p:cNvSpPr>
            <a:spLocks noGrp="1"/>
          </p:cNvSpPr>
          <p:nvPr>
            <p:ph type="title"/>
          </p:nvPr>
        </p:nvSpPr>
        <p:spPr/>
        <p:txBody>
          <a:bodyPr/>
          <a:lstStyle/>
          <a:p>
            <a:r>
              <a:rPr lang="en-US" dirty="0"/>
              <a:t>Observations and Key Takeaways</a:t>
            </a:r>
          </a:p>
        </p:txBody>
      </p:sp>
      <p:sp>
        <p:nvSpPr>
          <p:cNvPr id="2" name="TextBox 1">
            <a:extLst>
              <a:ext uri="{FF2B5EF4-FFF2-40B4-BE49-F238E27FC236}">
                <a16:creationId xmlns:a16="http://schemas.microsoft.com/office/drawing/2014/main" id="{767651F4-BA92-40D8-9255-3FB9FCAEE43F}"/>
              </a:ext>
            </a:extLst>
          </p:cNvPr>
          <p:cNvSpPr txBox="1"/>
          <p:nvPr/>
        </p:nvSpPr>
        <p:spPr>
          <a:xfrm>
            <a:off x="510625" y="1196752"/>
            <a:ext cx="8262448" cy="3970318"/>
          </a:xfrm>
          <a:prstGeom prst="rect">
            <a:avLst/>
          </a:prstGeom>
          <a:noFill/>
        </p:spPr>
        <p:txBody>
          <a:bodyPr wrap="square" rtlCol="0">
            <a:spAutoFit/>
          </a:bodyPr>
          <a:lstStyle/>
          <a:p>
            <a:pPr marL="285750" indent="-285750">
              <a:buFont typeface="Arial" panose="020B0604020202020204" pitchFamily="34" charset="0"/>
              <a:buChar char="•"/>
            </a:pPr>
            <a:r>
              <a:rPr lang="en-US" sz="1400" dirty="0"/>
              <a:t>Based on the five-year sales data, all categories of on-premise accounts have shown positive growth from 2017 to 2021, reflecting increasing demand for Red Bull products across channels. Among all account types, Clubs recorded the highest sales growth, followed by Hotels and Restaurants, while Bars showed the lowest growth rate comparatively.</a:t>
            </a:r>
          </a:p>
          <a:p>
            <a:endParaRPr lang="en-US" sz="1400" b="1" dirty="0"/>
          </a:p>
          <a:p>
            <a:r>
              <a:rPr lang="en-US" sz="1400" b="1" dirty="0"/>
              <a:t>Sales Growth / Trends by Account Type</a:t>
            </a:r>
          </a:p>
          <a:p>
            <a:r>
              <a:rPr lang="en-US" sz="1400" dirty="0"/>
              <a:t>The sales trend analysis highlights that Clubs have been the fastest-growing segment, indicating strong performance in nightlife venues. Hotels and Restaurants also demonstrated steady upward growth, whereas Bars grew at a slower pace, suggesting the need for refreshed sales strategies in that segment.</a:t>
            </a:r>
          </a:p>
          <a:p>
            <a:endParaRPr lang="en-US" sz="1400" b="1" dirty="0"/>
          </a:p>
          <a:p>
            <a:r>
              <a:rPr lang="en-US" sz="1400" b="1" dirty="0"/>
              <a:t>Best and Worst Performing Accounts by Account Type</a:t>
            </a:r>
          </a:p>
          <a:p>
            <a:r>
              <a:rPr lang="en-US" sz="1400" dirty="0"/>
              <a:t>The comparison of top-performing and low-performing accounts provides an opportunity to identify success factors. High-performing accounts often showed stronger promotional presence and wider product assortment, while weaker accounts may require better execution, assortment expansion, or visibility support.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p:txBody>
      </p:sp>
    </p:spTree>
    <p:extLst>
      <p:ext uri="{BB962C8B-B14F-4D97-AF65-F5344CB8AC3E}">
        <p14:creationId xmlns:p14="http://schemas.microsoft.com/office/powerpoint/2010/main" val="209914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A14B5-EB0F-9908-BFD5-5DF0013EDC3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91F1D37-11A0-E26C-9E35-30DB489704E9}"/>
              </a:ext>
            </a:extLst>
          </p:cNvPr>
          <p:cNvSpPr>
            <a:spLocks noGrp="1"/>
          </p:cNvSpPr>
          <p:nvPr>
            <p:ph type="title"/>
          </p:nvPr>
        </p:nvSpPr>
        <p:spPr/>
        <p:txBody>
          <a:bodyPr/>
          <a:lstStyle/>
          <a:p>
            <a:r>
              <a:rPr lang="en-US" dirty="0"/>
              <a:t>Marketing, Promotions &amp; Product Line Insights</a:t>
            </a:r>
          </a:p>
        </p:txBody>
      </p:sp>
      <p:sp>
        <p:nvSpPr>
          <p:cNvPr id="2" name="TextBox 1">
            <a:extLst>
              <a:ext uri="{FF2B5EF4-FFF2-40B4-BE49-F238E27FC236}">
                <a16:creationId xmlns:a16="http://schemas.microsoft.com/office/drawing/2014/main" id="{FF6A2082-A73C-3F57-81C6-C88633964B6E}"/>
              </a:ext>
            </a:extLst>
          </p:cNvPr>
          <p:cNvSpPr txBox="1"/>
          <p:nvPr/>
        </p:nvSpPr>
        <p:spPr>
          <a:xfrm>
            <a:off x="510625" y="1196752"/>
            <a:ext cx="8262448" cy="4924425"/>
          </a:xfrm>
          <a:prstGeom prst="rect">
            <a:avLst/>
          </a:prstGeom>
          <a:noFill/>
        </p:spPr>
        <p:txBody>
          <a:bodyPr wrap="square" rtlCol="0">
            <a:spAutoFit/>
          </a:bodyPr>
          <a:lstStyle/>
          <a:p>
            <a:r>
              <a:rPr lang="en-US" sz="1600" b="1" dirty="0"/>
              <a:t>Marketing and Promotion Effectiveness:</a:t>
            </a:r>
          </a:p>
          <a:p>
            <a:r>
              <a:rPr lang="en-US" sz="1400" dirty="0"/>
              <a:t>Accounts supported by marketing and promotional programs generally achieved stronger sales results than those with limited support. Menu inclusion emerged as one of the most effective programs overall, particularly in Restaurants where purchase decisions are influenced at the point of ordering.</a:t>
            </a:r>
          </a:p>
          <a:p>
            <a:endParaRPr lang="en-US" sz="1600" dirty="0"/>
          </a:p>
          <a:p>
            <a:r>
              <a:rPr lang="en-US" sz="1600" dirty="0"/>
              <a:t>Considering individual account types:</a:t>
            </a:r>
          </a:p>
          <a:p>
            <a:r>
              <a:rPr lang="en-US" sz="1400" b="1" dirty="0"/>
              <a:t>Bars</a:t>
            </a:r>
            <a:r>
              <a:rPr lang="en-US" sz="1400" dirty="0"/>
              <a:t> performed better when multiple promotional programs were implemented together. </a:t>
            </a:r>
          </a:p>
          <a:p>
            <a:r>
              <a:rPr lang="en-US" sz="1400" b="1" dirty="0"/>
              <a:t>Restaurants</a:t>
            </a:r>
            <a:r>
              <a:rPr lang="en-US" sz="1400" dirty="0"/>
              <a:t> showed stronger sales when menu inclusion was available. </a:t>
            </a:r>
          </a:p>
          <a:p>
            <a:r>
              <a:rPr lang="en-US" sz="1400" b="1" dirty="0"/>
              <a:t>Clubs</a:t>
            </a:r>
            <a:r>
              <a:rPr lang="en-US" sz="1400" dirty="0"/>
              <a:t> responded positively to digital screens and visual promotions. </a:t>
            </a:r>
          </a:p>
          <a:p>
            <a:r>
              <a:rPr lang="en-US" sz="1400" b="1" dirty="0"/>
              <a:t>Hotels/Event Venues</a:t>
            </a:r>
            <a:r>
              <a:rPr lang="en-US" sz="1400" dirty="0"/>
              <a:t> performed well where coolers improved product visibility and convenience. </a:t>
            </a:r>
            <a:endParaRPr lang="en-US" sz="1400" b="1" dirty="0"/>
          </a:p>
          <a:p>
            <a:endParaRPr lang="en-US" sz="1600" b="1" dirty="0"/>
          </a:p>
          <a:p>
            <a:r>
              <a:rPr lang="en-US" sz="1600" b="1" dirty="0"/>
              <a:t>Effect of Product Line Availability on Sales:</a:t>
            </a:r>
          </a:p>
          <a:p>
            <a:r>
              <a:rPr lang="en-US" sz="1400" dirty="0"/>
              <a:t>Accounts offering a broader assortment such as Regular, Sugar Free, and Yellow Edition generally recorded better sales performance than accounts with fewer product options. This indicates that product variety helps capture a wider range of consumer preferences.</a:t>
            </a:r>
          </a:p>
          <a:p>
            <a:endParaRPr lang="en-US" sz="1600" b="1" dirty="0"/>
          </a:p>
          <a:p>
            <a:r>
              <a:rPr lang="en-US" sz="1600" b="1" dirty="0"/>
              <a:t>Overall Conclusion:</a:t>
            </a:r>
          </a:p>
          <a:p>
            <a:r>
              <a:rPr lang="en-US" sz="1600" dirty="0"/>
              <a:t>The analysis suggests that future growth can be accelerated by increasing product assortment, strengthening promotional execution, and applying successful strategies from top-performing accounts to underperforming locations.</a:t>
            </a:r>
          </a:p>
          <a:p>
            <a:pPr marL="285750" indent="-285750">
              <a:buFont typeface="Arial" panose="020B0604020202020204" pitchFamily="34" charset="0"/>
              <a:buChar char="•"/>
            </a:pPr>
            <a:endParaRPr lang="en-US" sz="1400" dirty="0"/>
          </a:p>
        </p:txBody>
      </p:sp>
    </p:spTree>
    <p:extLst>
      <p:ext uri="{BB962C8B-B14F-4D97-AF65-F5344CB8AC3E}">
        <p14:creationId xmlns:p14="http://schemas.microsoft.com/office/powerpoint/2010/main" val="32594824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MS_OFFICEID" val="London"/>
  <p:tag name="TMS_CULTUREID" val="English-UK"/>
  <p:tag name="TMS_BUSINESSUNITID" val="LinklatersLLP"/>
  <p:tag name="TMS_TEMPLATE_ID" val="LinklatersWS"/>
  <p:tag name="PRESGUID" val="85e2c848-7001-4c35-9e45-96f3f3ccca87"/>
</p:tagLst>
</file>

<file path=ppt/theme/theme1.xml><?xml version="1.0" encoding="utf-8"?>
<a:theme xmlns:a="http://schemas.openxmlformats.org/drawingml/2006/main" name="Linklaters HouseStyl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Linklaters HouseStyle fonts">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Secondary palette 1">
      <a:srgbClr val="999966"/>
    </a:custClr>
    <a:custClr name="Secondary palette 2">
      <a:srgbClr val="66CCCC"/>
    </a:custClr>
    <a:custClr name="Secondary palette 3">
      <a:srgbClr val="CCCC99"/>
    </a:custClr>
    <a:custClr name="Secondary palette 4">
      <a:srgbClr val="9999CC"/>
    </a:custClr>
    <a:custClr name="Secondary palette 5">
      <a:srgbClr val="669999"/>
    </a:custClr>
    <a:custClr name="Secondary palette 6">
      <a:srgbClr val="666699"/>
    </a:custClr>
    <a:custClr name="Secondary palette 7">
      <a:srgbClr val="99CCFF"/>
    </a:custClr>
    <a:custClr name="Secondary palette 8">
      <a:srgbClr val="99CC99"/>
    </a:custClr>
    <a:custClr name="Secondary palette 9">
      <a:srgbClr val="A9A197"/>
    </a:custClr>
    <a:custClr name="White">
      <a:srgbClr val="FFFFFF"/>
    </a:custClr>
    <a:custClr name="Magenta - 100%">
      <a:srgbClr val="AF005F"/>
    </a:custClr>
    <a:custClr name="Magenta - 80%">
      <a:srgbClr val="BF337F"/>
    </a:custClr>
    <a:custClr name="Magenta - 60%">
      <a:srgbClr val="CC5C99"/>
    </a:custClr>
    <a:custClr name="Magenta - 40%">
      <a:srgbClr val="D985B2"/>
    </a:custClr>
    <a:custClr name="Magenta - 20%">
      <a:srgbClr val="E5ADCC"/>
    </a:custClr>
    <a:custClr name="Magenta - 10%">
      <a:srgbClr val="ECC1DA"/>
    </a:custClr>
    <a:custClr name="Magenta + Black 20%">
      <a:srgbClr val="91004F"/>
    </a:custClr>
    <a:custClr name="Magenta + Black 35%">
      <a:srgbClr val="7B0041"/>
    </a:custClr>
    <a:custClr name="Magenta + Black 50%">
      <a:srgbClr val="660033"/>
    </a:custClr>
    <a:custClr name="White">
      <a:srgbClr val="FFFFFF"/>
    </a:custClr>
    <a:custClr name="Black - 100%">
      <a:srgbClr val="000000"/>
    </a:custClr>
    <a:custClr name="Black - 80%">
      <a:srgbClr val="4D4D4D"/>
    </a:custClr>
    <a:custClr name="Black - 60%">
      <a:srgbClr val="808080"/>
    </a:custClr>
    <a:custClr name="Black - 40%">
      <a:srgbClr val="969696"/>
    </a:custClr>
    <a:custClr name="Black - 20%">
      <a:srgbClr val="C3C3C3"/>
    </a:custClr>
    <a:custClr name="Black - 10%">
      <a:srgbClr val="E6E6E6"/>
    </a:custClr>
    <a:custClr name="White">
      <a:srgbClr val="FFFFFF"/>
    </a:custClr>
    <a:custClr name="White">
      <a:srgbClr val="FFFFFF"/>
    </a:custClr>
    <a:custClr name="White">
      <a:srgbClr val="FFFFFF"/>
    </a:custClr>
    <a:custClr name="White">
      <a:srgbClr val="FFFFFF"/>
    </a:custClr>
    <a:custClr name="Warm Grey 7 - 100%">
      <a:srgbClr val="B0A9A0"/>
    </a:custClr>
    <a:custClr name="Warm Grey 7 - 80%">
      <a:srgbClr val="BFBAB2"/>
    </a:custClr>
    <a:custClr name="Warm Grey 7 - 60%">
      <a:srgbClr val="CFCBC4"/>
    </a:custClr>
    <a:custClr name="Warm Grey 7 - 40%">
      <a:srgbClr val="DFDBD7"/>
    </a:custClr>
    <a:custClr name="Warm Grey 7 - 20%">
      <a:srgbClr val="EFEDEB"/>
    </a:custClr>
    <a:custClr name="Warm Grey 7 - 10%">
      <a:srgbClr val="F7F6F5"/>
    </a:custClr>
    <a:custClr name="White">
      <a:srgbClr val="FFFFFF"/>
    </a:custClr>
    <a:custClr name="Traffic light Red">
      <a:srgbClr val="FF5958"/>
    </a:custClr>
    <a:custClr name="Traffic light Yellow">
      <a:srgbClr val="FCB256"/>
    </a:custClr>
    <a:custClr name="Traffic light Green">
      <a:srgbClr val="8ECC66"/>
    </a:custClr>
    <a:custClr name="Warm Grey 4 - 100%">
      <a:srgbClr val="C9C1B8"/>
    </a:custClr>
    <a:custClr name="Warm Grey 4 - 80%">
      <a:srgbClr val="D9D5CE"/>
    </a:custClr>
    <a:custClr name="Warm Grey 4 - 60%">
      <a:srgbClr val="E2DEDA"/>
    </a:custClr>
    <a:custClr name="Warm Grey 4 - 40%">
      <a:srgbClr val="ECE9E7"/>
    </a:custClr>
    <a:custClr name="Warm Grey 4 - 20%">
      <a:srgbClr val="F6F5F3"/>
    </a:custClr>
    <a:custClr name="Warm Grey 4 - 10%">
      <a:srgbClr val="FAFAF8"/>
    </a:custClr>
    <a:custClr name="White">
      <a:srgbClr val="FFFFFF"/>
    </a:custClr>
    <a:custClr name="Alliance - Allens">
      <a:srgbClr val="0074BF"/>
    </a:custClr>
    <a:custClr name="Alliance - Webber Wentzel">
      <a:srgbClr val="F07D35"/>
    </a:custClr>
    <a:custClr name="Alliance - TTA">
      <a:srgbClr val="007272"/>
    </a:custClr>
  </a:custClrLst>
  <a:extLst>
    <a:ext uri="{05A4C25C-085E-4340-85A3-A5531E510DB2}">
      <thm15:themeFamily xmlns:thm15="http://schemas.microsoft.com/office/thememl/2012/main" name="LL_Pres.potx" id="{A535CF7E-DFC4-426F-9692-748C3BFCB745}" vid="{F7C7502D-553B-4EA2-AE2A-73E29B73BC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1451</TotalTime>
  <Words>713</Words>
  <Application>Microsoft Office PowerPoint</Application>
  <PresentationFormat>On-screen Show (4:3)</PresentationFormat>
  <Paragraphs>104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TradeGothic</vt:lpstr>
      <vt:lpstr>Linklaters HouseStyle</vt:lpstr>
      <vt:lpstr>PowerPoint Presentation</vt:lpstr>
      <vt:lpstr>Sales Growth by Account and Account Type </vt:lpstr>
      <vt:lpstr>Sales Growth by Account and Account Type </vt:lpstr>
      <vt:lpstr>Sales Growth by Account Type </vt:lpstr>
      <vt:lpstr>Best and Worst Performing Accounts by Account Type  (5 Year CAGR)</vt:lpstr>
      <vt:lpstr>Total Sales by Account Type and Year</vt:lpstr>
      <vt:lpstr>Sales Growth/Trends by Year</vt:lpstr>
      <vt:lpstr>Effect of Sugar Free Presence on Sales</vt:lpstr>
      <vt:lpstr>Effect of Yellow Edition on Sales</vt:lpstr>
      <vt:lpstr>Effectiveness of the different Marketing/Promotions Program</vt:lpstr>
      <vt:lpstr>Observations and Key Takeaways</vt:lpstr>
      <vt:lpstr>Marketing, Promotions &amp; Product Line Insights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Outlook Calendar Template</dc:title>
  <dc:creator>Any Authorised User</dc:creator>
  <cp:lastModifiedBy>snehasri sai</cp:lastModifiedBy>
  <cp:revision>47</cp:revision>
  <dcterms:created xsi:type="dcterms:W3CDTF">2020-08-24T16:57:34Z</dcterms:created>
  <dcterms:modified xsi:type="dcterms:W3CDTF">2026-05-10T14:28:18Z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 Version">
    <vt:lpwstr>R.2010-2</vt:lpwstr>
  </property>
  <property fmtid="{D5CDD505-2E9C-101B-9397-08002B2CF9AE}" pid="3" name="FirmName">
    <vt:lpwstr>Linklaters</vt:lpwstr>
  </property>
  <property fmtid="{D5CDD505-2E9C-101B-9397-08002B2CF9AE}" pid="4" name="Pitch">
    <vt:lpwstr>HS</vt:lpwstr>
  </property>
</Properties>
</file>